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13"/>
  </p:notesMasterIdLst>
  <p:sldIdLst>
    <p:sldId id="258" r:id="rId2"/>
    <p:sldId id="259" r:id="rId3"/>
    <p:sldId id="257" r:id="rId4"/>
    <p:sldId id="256" r:id="rId5"/>
    <p:sldId id="260" r:id="rId6"/>
    <p:sldId id="261" r:id="rId7"/>
    <p:sldId id="266" r:id="rId8"/>
    <p:sldId id="263" r:id="rId9"/>
    <p:sldId id="262" r:id="rId10"/>
    <p:sldId id="264" r:id="rId11"/>
    <p:sldId id="265"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3A3B"/>
    <a:srgbClr val="FDFFFF"/>
    <a:srgbClr val="031C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652"/>
    <p:restoredTop sz="69866"/>
  </p:normalViewPr>
  <p:slideViewPr>
    <p:cSldViewPr snapToGrid="0">
      <p:cViewPr varScale="1">
        <p:scale>
          <a:sx n="88" d="100"/>
          <a:sy n="88" d="100"/>
        </p:scale>
        <p:origin x="5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CA736-1771-9644-9574-FF163C13CFB1}" type="datetimeFigureOut">
              <a:rPr kumimoji="1" lang="ja-JP" altLang="en-US" smtClean="0"/>
              <a:t>2026/5/18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0692B5-6EA2-394E-8F15-346D40051C68}" type="slidenum">
              <a:rPr kumimoji="1" lang="ja-JP" altLang="en-US" smtClean="0"/>
              <a:t>‹#›</a:t>
            </a:fld>
            <a:endParaRPr kumimoji="1" lang="ja-JP" altLang="en-US"/>
          </a:p>
        </p:txBody>
      </p:sp>
    </p:spTree>
    <p:extLst>
      <p:ext uri="{BB962C8B-B14F-4D97-AF65-F5344CB8AC3E}">
        <p14:creationId xmlns:p14="http://schemas.microsoft.com/office/powerpoint/2010/main" val="37181574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a:t>
            </a:r>
            <a:r>
              <a:rPr kumimoji="1" lang="en-US" altLang="ja-JP" dirty="0"/>
              <a:t>14</a:t>
            </a:r>
            <a:r>
              <a:rPr kumimoji="1" lang="ja-JP" altLang="en-US"/>
              <a:t>時間は回復期リハ病棟で生活する患者さんのリハ以外の時間です。</a:t>
            </a:r>
            <a:endParaRPr kumimoji="1" lang="en-US" altLang="ja-JP" dirty="0"/>
          </a:p>
          <a:p>
            <a:r>
              <a:rPr kumimoji="1" lang="ja-JP" altLang="en-US"/>
              <a:t>睡眠</a:t>
            </a:r>
            <a:r>
              <a:rPr kumimoji="1" lang="en-US" altLang="ja-JP" dirty="0"/>
              <a:t>8</a:t>
            </a:r>
            <a:r>
              <a:rPr kumimoji="1" lang="ja-JP" altLang="en-US"/>
              <a:t>時間、リハ</a:t>
            </a:r>
            <a:r>
              <a:rPr kumimoji="1" lang="en-US" altLang="ja-JP" dirty="0"/>
              <a:t>2</a:t>
            </a:r>
            <a:r>
              <a:rPr kumimoji="1" lang="ja-JP" altLang="en-US"/>
              <a:t>時間、リハ以外の時間が</a:t>
            </a:r>
            <a:r>
              <a:rPr kumimoji="1" lang="en-US" altLang="ja-JP" dirty="0"/>
              <a:t>14</a:t>
            </a:r>
            <a:r>
              <a:rPr kumimoji="1" lang="ja-JP" altLang="en-US"/>
              <a:t>時間という</a:t>
            </a:r>
            <a:r>
              <a:rPr kumimoji="1" lang="en-US" altLang="ja-JP" dirty="0"/>
              <a:t>1</a:t>
            </a:r>
            <a:r>
              <a:rPr kumimoji="1" lang="ja-JP" altLang="en-US"/>
              <a:t>日の時間配分になっている</a:t>
            </a:r>
            <a:endParaRPr kumimoji="1" lang="en-US" altLang="ja-JP" dirty="0"/>
          </a:p>
          <a:p>
            <a:r>
              <a:rPr kumimoji="1" lang="ja-JP" altLang="en-US"/>
              <a:t>この</a:t>
            </a:r>
            <a:r>
              <a:rPr kumimoji="1" lang="en-US" altLang="ja-JP" dirty="0"/>
              <a:t>14</a:t>
            </a:r>
            <a:r>
              <a:rPr kumimoji="1" lang="ja-JP" altLang="en-US"/>
              <a:t>時間、患者さんはどのように過ごしてますか？</a:t>
            </a:r>
          </a:p>
        </p:txBody>
      </p:sp>
      <p:sp>
        <p:nvSpPr>
          <p:cNvPr id="4" name="スライド番号プレースホルダー 3"/>
          <p:cNvSpPr>
            <a:spLocks noGrp="1"/>
          </p:cNvSpPr>
          <p:nvPr>
            <p:ph type="sldNum" sz="quarter" idx="5"/>
          </p:nvPr>
        </p:nvSpPr>
        <p:spPr/>
        <p:txBody>
          <a:bodyPr/>
          <a:lstStyle/>
          <a:p>
            <a:fld id="{850692B5-6EA2-394E-8F15-346D40051C68}" type="slidenum">
              <a:rPr kumimoji="1" lang="ja-JP" altLang="en-US" smtClean="0"/>
              <a:t>3</a:t>
            </a:fld>
            <a:endParaRPr kumimoji="1" lang="ja-JP" altLang="en-US"/>
          </a:p>
        </p:txBody>
      </p:sp>
    </p:spTree>
    <p:extLst>
      <p:ext uri="{BB962C8B-B14F-4D97-AF65-F5344CB8AC3E}">
        <p14:creationId xmlns:p14="http://schemas.microsoft.com/office/powerpoint/2010/main" val="732396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 で、この</a:t>
            </a:r>
            <a:r>
              <a:rPr kumimoji="1" lang="en-US" altLang="ja-JP" dirty="0"/>
              <a:t>14</a:t>
            </a:r>
            <a:r>
              <a:rPr kumimoji="1" lang="ja-JP" altLang="en-US"/>
              <a:t>時間の過ごし方というのは、回復に関係あるのかどうかについて。</a:t>
            </a:r>
            <a:endParaRPr kumimoji="1" lang="en-US" altLang="ja-JP" dirty="0"/>
          </a:p>
          <a:p>
            <a:endParaRPr kumimoji="1" lang="en-US" altLang="ja-JP" dirty="0"/>
          </a:p>
          <a:p>
            <a:r>
              <a:rPr kumimoji="1" lang="ja-JP" altLang="en-US"/>
              <a:t>先行研究を探してみると、                                              </a:t>
            </a:r>
          </a:p>
          <a:p>
            <a:r>
              <a:rPr kumimoji="1" lang="ja-JP" altLang="en-US"/>
              <a:t>                                                                     </a:t>
            </a:r>
          </a:p>
          <a:p>
            <a:r>
              <a:rPr kumimoji="1" lang="ja-JP" altLang="en-US"/>
              <a:t>   日本の回復期リハ病院で、高齢の入院患者さんを対象に                      </a:t>
            </a:r>
          </a:p>
          <a:p>
            <a:r>
              <a:rPr kumimoji="1" lang="ja-JP" altLang="en-US"/>
              <a:t>   加速度計で身体活動量を測った研究がありました。                    </a:t>
            </a:r>
          </a:p>
          <a:p>
            <a:r>
              <a:rPr kumimoji="1" lang="ja-JP" altLang="en-US"/>
              <a:t>                                                                     </a:t>
            </a:r>
          </a:p>
          <a:p>
            <a:r>
              <a:rPr kumimoji="1" lang="ja-JP" altLang="en-US"/>
              <a:t>   患者さんを活動量で</a:t>
            </a:r>
            <a:r>
              <a:rPr kumimoji="1" lang="en-US" altLang="ja-JP" dirty="0"/>
              <a:t>4</a:t>
            </a:r>
            <a:r>
              <a:rPr kumimoji="1" lang="ja-JP" altLang="en-US"/>
              <a:t>つのグループに分けたところ、                   </a:t>
            </a:r>
          </a:p>
          <a:p>
            <a:r>
              <a:rPr kumimoji="1" lang="ja-JP" altLang="en-US"/>
              <a:t>   活動量が多いグループほど、退院時の</a:t>
            </a:r>
            <a:r>
              <a:rPr kumimoji="1" lang="en" altLang="ja-JP" dirty="0"/>
              <a:t>FIM</a:t>
            </a:r>
            <a:r>
              <a:rPr kumimoji="1" lang="ja-JP" altLang="en-US"/>
              <a:t>が高く、                     </a:t>
            </a:r>
          </a:p>
          <a:p>
            <a:r>
              <a:rPr kumimoji="1" lang="ja-JP" altLang="en-US"/>
              <a:t>   在院日数も短かったという結果でした。                              </a:t>
            </a:r>
          </a:p>
          <a:p>
            <a:r>
              <a:rPr kumimoji="1" lang="ja-JP" altLang="en-US"/>
              <a:t>                                                                     </a:t>
            </a:r>
          </a:p>
          <a:p>
            <a:r>
              <a:rPr kumimoji="1" lang="ja-JP" altLang="en-US"/>
              <a:t>   注意点として、これはリハ時間も含めた                              </a:t>
            </a:r>
          </a:p>
          <a:p>
            <a:r>
              <a:rPr kumimoji="1" lang="ja-JP" altLang="en-US"/>
              <a:t>   総活動量の話です。因果関係ではありません。                        </a:t>
            </a:r>
          </a:p>
          <a:p>
            <a:r>
              <a:rPr kumimoji="1" lang="ja-JP" altLang="en-US"/>
              <a:t>                                                                     </a:t>
            </a:r>
          </a:p>
          <a:p>
            <a:r>
              <a:rPr kumimoji="1" lang="ja-JP" altLang="en-US"/>
              <a:t>   ただ、</a:t>
            </a:r>
            <a:r>
              <a:rPr kumimoji="1" lang="en-US" altLang="ja-JP" dirty="0"/>
              <a:t>1</a:t>
            </a:r>
            <a:r>
              <a:rPr kumimoji="1" lang="ja-JP" altLang="en-US"/>
              <a:t>日を通してよく動いている患者さんほど                       </a:t>
            </a:r>
          </a:p>
          <a:p>
            <a:r>
              <a:rPr kumimoji="1" lang="ja-JP" altLang="en-US"/>
              <a:t>   結果が良い傾向は見えています。」 </a:t>
            </a:r>
          </a:p>
        </p:txBody>
      </p:sp>
      <p:sp>
        <p:nvSpPr>
          <p:cNvPr id="4" name="スライド番号プレースホルダー 3"/>
          <p:cNvSpPr>
            <a:spLocks noGrp="1"/>
          </p:cNvSpPr>
          <p:nvPr>
            <p:ph type="sldNum" sz="quarter" idx="5"/>
          </p:nvPr>
        </p:nvSpPr>
        <p:spPr/>
        <p:txBody>
          <a:bodyPr/>
          <a:lstStyle/>
          <a:p>
            <a:fld id="{850692B5-6EA2-394E-8F15-346D40051C68}" type="slidenum">
              <a:rPr kumimoji="1" lang="ja-JP" altLang="en-US" smtClean="0"/>
              <a:t>4</a:t>
            </a:fld>
            <a:endParaRPr kumimoji="1" lang="ja-JP" altLang="en-US"/>
          </a:p>
        </p:txBody>
      </p:sp>
    </p:spTree>
    <p:extLst>
      <p:ext uri="{BB962C8B-B14F-4D97-AF65-F5344CB8AC3E}">
        <p14:creationId xmlns:p14="http://schemas.microsoft.com/office/powerpoint/2010/main" val="4127291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リハ以外の時間の活動量を上げる手段の一つとして自主トレが一般的に考えられると思うが、</a:t>
            </a:r>
            <a:br>
              <a:rPr kumimoji="1" lang="en-US" altLang="ja-JP" dirty="0"/>
            </a:br>
            <a:br>
              <a:rPr kumimoji="1" lang="en-US" altLang="ja-JP" dirty="0"/>
            </a:br>
            <a:r>
              <a:rPr kumimoji="1" lang="ja-JP" altLang="en-US"/>
              <a:t>自主トレを渡せば解決するか。</a:t>
            </a:r>
          </a:p>
          <a:p>
            <a:r>
              <a:rPr kumimoji="1" lang="ja-JP" altLang="en-US"/>
              <a:t>   そう簡単ではありません。                                          </a:t>
            </a:r>
          </a:p>
          <a:p>
            <a:endParaRPr kumimoji="1" lang="en-US" altLang="ja-JP" dirty="0"/>
          </a:p>
          <a:p>
            <a:r>
              <a:rPr kumimoji="1" lang="ja-JP" altLang="en-US"/>
              <a:t>これも先行研究があって、</a:t>
            </a:r>
          </a:p>
          <a:p>
            <a:r>
              <a:rPr kumimoji="1" lang="ja-JP" altLang="en-US"/>
              <a:t>   この研究では、</a:t>
            </a:r>
            <a:r>
              <a:rPr kumimoji="1" lang="en-US" altLang="ja-JP" dirty="0"/>
              <a:t>1</a:t>
            </a:r>
            <a:r>
              <a:rPr kumimoji="1" lang="ja-JP" altLang="en-US"/>
              <a:t>日</a:t>
            </a:r>
            <a:r>
              <a:rPr kumimoji="1" lang="en-US" altLang="ja-JP" dirty="0"/>
              <a:t>30</a:t>
            </a:r>
            <a:r>
              <a:rPr kumimoji="1" lang="ja-JP" altLang="en-US"/>
              <a:t>分の自主トレを</a:t>
            </a:r>
            <a:r>
              <a:rPr kumimoji="1" lang="en-US" altLang="ja-JP" dirty="0"/>
              <a:t>28</a:t>
            </a:r>
            <a:r>
              <a:rPr kumimoji="1" lang="ja-JP" altLang="en-US"/>
              <a:t>日間                           </a:t>
            </a:r>
          </a:p>
          <a:p>
            <a:r>
              <a:rPr kumimoji="1" lang="ja-JP" altLang="en-US"/>
              <a:t>   続けてもらうことを目標にしました。</a:t>
            </a:r>
          </a:p>
          <a:p>
            <a:r>
              <a:rPr kumimoji="1" lang="ja-JP" altLang="en-US"/>
              <a:t>                                                                     </a:t>
            </a:r>
          </a:p>
          <a:p>
            <a:r>
              <a:rPr kumimoji="1" lang="ja-JP" altLang="en-US"/>
              <a:t>   でも実際は、</a:t>
            </a:r>
            <a:r>
              <a:rPr kumimoji="1" lang="en-US" altLang="ja-JP" dirty="0"/>
              <a:t>5</a:t>
            </a:r>
            <a:r>
              <a:rPr kumimoji="1" lang="ja-JP" altLang="en-US"/>
              <a:t>分から</a:t>
            </a:r>
            <a:r>
              <a:rPr kumimoji="1" lang="en-US" altLang="ja-JP" dirty="0"/>
              <a:t>15</a:t>
            </a:r>
            <a:r>
              <a:rPr kumimoji="1" lang="ja-JP" altLang="en-US"/>
              <a:t>分を</a:t>
            </a:r>
            <a:r>
              <a:rPr kumimoji="1" lang="en-US" altLang="ja-JP" dirty="0"/>
              <a:t>7</a:t>
            </a:r>
            <a:r>
              <a:rPr kumimoji="1" lang="ja-JP" altLang="en-US"/>
              <a:t>日以内しか実行されなかった。                                </a:t>
            </a:r>
          </a:p>
          <a:p>
            <a:r>
              <a:rPr kumimoji="1" lang="ja-JP" altLang="en-US"/>
              <a:t>   目標と現実にはこれだけの差がありました。</a:t>
            </a:r>
          </a:p>
          <a:p>
            <a:r>
              <a:rPr kumimoji="1" lang="ja-JP" altLang="en-US"/>
              <a:t>                                                                     </a:t>
            </a:r>
          </a:p>
          <a:p>
            <a:r>
              <a:rPr kumimoji="1" lang="ja-JP" altLang="en-US"/>
              <a:t>   自主トレの継続には、                                              </a:t>
            </a:r>
          </a:p>
          <a:p>
            <a:r>
              <a:rPr kumimoji="1" lang="ja-JP" altLang="en-US"/>
              <a:t>   </a:t>
            </a:r>
            <a:r>
              <a:rPr kumimoji="1" lang="en-US" altLang="ja-JP" dirty="0"/>
              <a:t>"</a:t>
            </a:r>
            <a:r>
              <a:rPr kumimoji="1" lang="ja-JP" altLang="en-US"/>
              <a:t>見やすい資料</a:t>
            </a:r>
            <a:r>
              <a:rPr kumimoji="1" lang="en-US" altLang="ja-JP" dirty="0"/>
              <a:t>"</a:t>
            </a:r>
            <a:r>
              <a:rPr kumimoji="1" lang="ja-JP" altLang="en-US"/>
              <a:t>と</a:t>
            </a:r>
            <a:r>
              <a:rPr kumimoji="1" lang="en-US" altLang="ja-JP" dirty="0"/>
              <a:t>"</a:t>
            </a:r>
            <a:r>
              <a:rPr kumimoji="1" lang="ja-JP" altLang="en-US"/>
              <a:t>私たちの声かけ</a:t>
            </a:r>
            <a:r>
              <a:rPr kumimoji="1" lang="en-US" altLang="ja-JP" dirty="0"/>
              <a:t>"</a:t>
            </a:r>
            <a:r>
              <a:rPr kumimoji="1" lang="ja-JP" altLang="en-US"/>
              <a:t>の    </a:t>
            </a:r>
          </a:p>
          <a:p>
            <a:r>
              <a:rPr kumimoji="1" lang="ja-JP" altLang="en-US"/>
              <a:t>   両方が必要だと言われています。              </a:t>
            </a:r>
            <a:endParaRPr kumimoji="1" lang="en-US" altLang="ja-JP" dirty="0"/>
          </a:p>
          <a:p>
            <a:endParaRPr kumimoji="1" lang="en-US" altLang="ja-JP" dirty="0"/>
          </a:p>
          <a:p>
            <a:endParaRPr kumimoji="1" lang="en-US" altLang="ja-JP" dirty="0"/>
          </a:p>
          <a:p>
            <a:r>
              <a:rPr kumimoji="1" lang="ja-JP" altLang="en-US"/>
              <a:t>この２つの研究結果にもあるように、リハ以外の時間も活動してもらったほうがいいとか、自主トレを継続してやってもらいたいとかその辺は臨床的にもあるんじゃないかと思う                   </a:t>
            </a:r>
          </a:p>
          <a:p>
            <a:r>
              <a:rPr kumimoji="1" lang="ja-JP" altLang="en-US"/>
              <a:t>                                                                     </a:t>
            </a:r>
          </a:p>
          <a:p>
            <a:r>
              <a:rPr kumimoji="1" lang="ja-JP" altLang="en-US"/>
              <a:t>   でも</a:t>
            </a:r>
            <a:r>
              <a:rPr kumimoji="1" lang="en-US" altLang="ja-JP" dirty="0"/>
              <a:t>"</a:t>
            </a:r>
            <a:r>
              <a:rPr kumimoji="1" lang="ja-JP" altLang="en-US"/>
              <a:t>見やすい資料</a:t>
            </a:r>
            <a:r>
              <a:rPr kumimoji="1" lang="en-US" altLang="ja-JP" dirty="0"/>
              <a:t>"</a:t>
            </a:r>
            <a:r>
              <a:rPr kumimoji="1" lang="ja-JP" altLang="en-US"/>
              <a:t>を                                      </a:t>
            </a:r>
          </a:p>
          <a:p>
            <a:r>
              <a:rPr kumimoji="1" lang="ja-JP" altLang="en-US"/>
              <a:t>   毎回ちゃんと作るのって結構大変ですよね。」 </a:t>
            </a:r>
            <a:br>
              <a:rPr kumimoji="1" lang="en-US" altLang="ja-JP" dirty="0"/>
            </a:br>
            <a:br>
              <a:rPr kumimoji="1"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850692B5-6EA2-394E-8F15-346D40051C68}" type="slidenum">
              <a:rPr kumimoji="1" lang="ja-JP" altLang="en-US" smtClean="0"/>
              <a:t>5</a:t>
            </a:fld>
            <a:endParaRPr kumimoji="1" lang="ja-JP" altLang="en-US"/>
          </a:p>
        </p:txBody>
      </p:sp>
    </p:spTree>
    <p:extLst>
      <p:ext uri="{BB962C8B-B14F-4D97-AF65-F5344CB8AC3E}">
        <p14:creationId xmlns:p14="http://schemas.microsoft.com/office/powerpoint/2010/main" val="1336621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わかっていても毎回作るのは大変だと思います。</a:t>
            </a:r>
            <a:br>
              <a:rPr kumimoji="1" lang="en-US" altLang="ja-JP" dirty="0"/>
            </a:br>
            <a:br>
              <a:rPr kumimoji="1" lang="en-US" altLang="ja-JP" dirty="0"/>
            </a:br>
            <a:r>
              <a:rPr kumimoji="1" lang="ja-JP" altLang="en-US"/>
              <a:t>口頭では説明するけど、                                            </a:t>
            </a:r>
          </a:p>
          <a:p>
            <a:r>
              <a:rPr kumimoji="1" lang="ja-JP" altLang="en-US"/>
              <a:t>   紙に残すところまで毎回はできない。</a:t>
            </a:r>
          </a:p>
          <a:p>
            <a:r>
              <a:rPr kumimoji="1" lang="ja-JP" altLang="en-US"/>
              <a:t>                                                                     </a:t>
            </a:r>
          </a:p>
          <a:p>
            <a:r>
              <a:rPr kumimoji="1" lang="ja-JP" altLang="en-US"/>
              <a:t>   毎回ゼロから同じ運動を書くのも手間。                              </a:t>
            </a:r>
          </a:p>
          <a:p>
            <a:r>
              <a:rPr kumimoji="1" lang="ja-JP" altLang="en-US"/>
              <a:t>                                                                     </a:t>
            </a:r>
          </a:p>
          <a:p>
            <a:r>
              <a:rPr kumimoji="1" lang="ja-JP" altLang="en-US"/>
              <a:t>   患者さんごとに少し変えたいけど、                                  </a:t>
            </a:r>
          </a:p>
          <a:p>
            <a:r>
              <a:rPr kumimoji="1" lang="ja-JP" altLang="en-US"/>
              <a:t>   そこまでの余裕がない。                </a:t>
            </a:r>
          </a:p>
          <a:p>
            <a:r>
              <a:rPr kumimoji="1" lang="ja-JP" altLang="en-US"/>
              <a:t>                                                                     </a:t>
            </a:r>
          </a:p>
          <a:p>
            <a:r>
              <a:rPr kumimoji="1" lang="ja-JP" altLang="en-US"/>
              <a:t>   自主トレの</a:t>
            </a:r>
            <a:r>
              <a:rPr kumimoji="1" lang="en-US" altLang="ja-JP" dirty="0"/>
              <a:t>"</a:t>
            </a:r>
            <a:r>
              <a:rPr kumimoji="1" lang="ja-JP" altLang="en-US"/>
              <a:t>質</a:t>
            </a:r>
            <a:r>
              <a:rPr kumimoji="1" lang="en-US" altLang="ja-JP" dirty="0"/>
              <a:t>"</a:t>
            </a:r>
            <a:r>
              <a:rPr kumimoji="1" lang="ja-JP" altLang="en-US"/>
              <a:t>を上げたいのに、                                  </a:t>
            </a:r>
          </a:p>
          <a:p>
            <a:r>
              <a:rPr kumimoji="1" lang="ja-JP" altLang="en-US"/>
              <a:t>   </a:t>
            </a:r>
            <a:r>
              <a:rPr kumimoji="1" lang="en-US" altLang="ja-JP" dirty="0"/>
              <a:t>"</a:t>
            </a:r>
            <a:r>
              <a:rPr kumimoji="1" lang="ja-JP" altLang="en-US"/>
              <a:t>作る手間</a:t>
            </a:r>
            <a:r>
              <a:rPr kumimoji="1" lang="en-US" altLang="ja-JP" dirty="0"/>
              <a:t>"</a:t>
            </a:r>
            <a:r>
              <a:rPr kumimoji="1" lang="ja-JP" altLang="en-US"/>
              <a:t>がボトルネックになっている。                            </a:t>
            </a:r>
          </a:p>
          <a:p>
            <a:r>
              <a:rPr kumimoji="1" lang="ja-JP" altLang="en-US"/>
              <a:t>                   </a:t>
            </a:r>
          </a:p>
          <a:p>
            <a:r>
              <a:rPr kumimoji="1" lang="ja-JP" altLang="en-US"/>
              <a:t>   </a:t>
            </a:r>
          </a:p>
        </p:txBody>
      </p:sp>
      <p:sp>
        <p:nvSpPr>
          <p:cNvPr id="4" name="スライド番号プレースホルダー 3"/>
          <p:cNvSpPr>
            <a:spLocks noGrp="1"/>
          </p:cNvSpPr>
          <p:nvPr>
            <p:ph type="sldNum" sz="quarter" idx="5"/>
          </p:nvPr>
        </p:nvSpPr>
        <p:spPr/>
        <p:txBody>
          <a:bodyPr/>
          <a:lstStyle/>
          <a:p>
            <a:fld id="{850692B5-6EA2-394E-8F15-346D40051C68}" type="slidenum">
              <a:rPr kumimoji="1" lang="ja-JP" altLang="en-US" smtClean="0"/>
              <a:t>6</a:t>
            </a:fld>
            <a:endParaRPr kumimoji="1" lang="ja-JP" altLang="en-US"/>
          </a:p>
        </p:txBody>
      </p:sp>
    </p:spTree>
    <p:extLst>
      <p:ext uri="{BB962C8B-B14F-4D97-AF65-F5344CB8AC3E}">
        <p14:creationId xmlns:p14="http://schemas.microsoft.com/office/powerpoint/2010/main" val="2737398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使い方は</a:t>
            </a:r>
            <a:r>
              <a:rPr kumimoji="1" lang="en-US" altLang="ja-JP" dirty="0"/>
              <a:t>3</a:t>
            </a:r>
            <a:r>
              <a:rPr kumimoji="1" lang="ja-JP" altLang="en-US"/>
              <a:t>ステップです。</a:t>
            </a:r>
          </a:p>
          <a:p>
            <a:endParaRPr kumimoji="1" lang="ja-JP" altLang="en-US"/>
          </a:p>
          <a:p>
            <a:r>
              <a:rPr kumimoji="1" lang="ja-JP" altLang="en-US"/>
              <a:t>   まず、運動ライブラリから運動を選びます。                          </a:t>
            </a:r>
          </a:p>
          <a:p>
            <a:r>
              <a:rPr kumimoji="1" lang="ja-JP" altLang="en-US"/>
              <a:t>   現在</a:t>
            </a:r>
            <a:r>
              <a:rPr kumimoji="1" lang="en-US" altLang="ja-JP" dirty="0"/>
              <a:t>100</a:t>
            </a:r>
            <a:r>
              <a:rPr kumimoji="1" lang="ja-JP" altLang="en-US"/>
              <a:t>種類の運動が入っています。</a:t>
            </a:r>
          </a:p>
          <a:p>
            <a:r>
              <a:rPr kumimoji="1" lang="ja-JP" altLang="en-US"/>
              <a:t>   部位や目的で絞り込めます。                                        </a:t>
            </a:r>
          </a:p>
          <a:p>
            <a:r>
              <a:rPr kumimoji="1" lang="ja-JP" altLang="en-US"/>
              <a:t>                                                                     </a:t>
            </a:r>
          </a:p>
          <a:p>
            <a:r>
              <a:rPr kumimoji="1" lang="ja-JP" altLang="en-US"/>
              <a:t>   次に、回数やセット数を調整して、                                  </a:t>
            </a:r>
          </a:p>
          <a:p>
            <a:r>
              <a:rPr kumimoji="1" lang="ja-JP" altLang="en-US"/>
              <a:t>   指導書のプレビューを確認します。                                  </a:t>
            </a:r>
          </a:p>
          <a:p>
            <a:r>
              <a:rPr kumimoji="1" lang="ja-JP" altLang="en-US"/>
              <a:t>                                                                     </a:t>
            </a:r>
          </a:p>
          <a:p>
            <a:r>
              <a:rPr kumimoji="1" lang="ja-JP" altLang="en-US"/>
              <a:t>   あとは印刷ボタンを押すだけ。                                      </a:t>
            </a:r>
          </a:p>
          <a:p>
            <a:r>
              <a:rPr kumimoji="1" lang="ja-JP" altLang="en-US"/>
              <a:t>   そのまま患者さんに渡せます。                                    </a:t>
            </a:r>
          </a:p>
          <a:p>
            <a:r>
              <a:rPr kumimoji="1" lang="ja-JP" altLang="en-US"/>
              <a:t>                                                                     </a:t>
            </a:r>
          </a:p>
          <a:p>
            <a:r>
              <a:rPr kumimoji="1" lang="ja-JP" altLang="en-US"/>
              <a:t>   手書きやパワポより見やすく、                                      </a:t>
            </a:r>
          </a:p>
          <a:p>
            <a:r>
              <a:rPr kumimoji="1" lang="ja-JP" altLang="en-US"/>
              <a:t>   数分で作成できます。                  </a:t>
            </a:r>
          </a:p>
          <a:p>
            <a:r>
              <a:rPr kumimoji="1" lang="ja-JP" altLang="en-US"/>
              <a:t>                                                                     </a:t>
            </a:r>
          </a:p>
          <a:p>
            <a:r>
              <a:rPr kumimoji="1" lang="ja-JP" altLang="en-US"/>
              <a:t>   無料です。登録もいりません。</a:t>
            </a:r>
          </a:p>
          <a:p>
            <a:r>
              <a:rPr kumimoji="1" lang="ja-JP" altLang="en-US"/>
              <a:t>   患者さんの名前を入れなくても使えます。</a:t>
            </a:r>
          </a:p>
          <a:p>
            <a:r>
              <a:rPr kumimoji="1" lang="ja-JP" altLang="en-US"/>
              <a:t>                                                                     </a:t>
            </a:r>
          </a:p>
          <a:p>
            <a:r>
              <a:rPr kumimoji="1" lang="ja-JP" altLang="en-US"/>
              <a:t>   今から、自分の患者さんを想定して</a:t>
            </a:r>
            <a:r>
              <a:rPr kumimoji="1" lang="en-US" altLang="ja-JP" dirty="0"/>
              <a:t>1</a:t>
            </a:r>
            <a:r>
              <a:rPr kumimoji="1" lang="ja-JP" altLang="en-US"/>
              <a:t>人分だけ、試してみてください。（仮想の症例でも</a:t>
            </a:r>
            <a:r>
              <a:rPr kumimoji="1" lang="en-US" altLang="ja-JP" dirty="0"/>
              <a:t>OK</a:t>
            </a:r>
            <a:r>
              <a:rPr kumimoji="1" lang="ja-JP" altLang="en-US"/>
              <a:t>です）とにかく触ってみて</a:t>
            </a:r>
          </a:p>
        </p:txBody>
      </p:sp>
      <p:sp>
        <p:nvSpPr>
          <p:cNvPr id="4" name="スライド番号プレースホルダー 3"/>
          <p:cNvSpPr>
            <a:spLocks noGrp="1"/>
          </p:cNvSpPr>
          <p:nvPr>
            <p:ph type="sldNum" sz="quarter" idx="5"/>
          </p:nvPr>
        </p:nvSpPr>
        <p:spPr/>
        <p:txBody>
          <a:bodyPr/>
          <a:lstStyle/>
          <a:p>
            <a:fld id="{850692B5-6EA2-394E-8F15-346D40051C68}" type="slidenum">
              <a:rPr kumimoji="1" lang="ja-JP" altLang="en-US" smtClean="0"/>
              <a:t>9</a:t>
            </a:fld>
            <a:endParaRPr kumimoji="1" lang="ja-JP" altLang="en-US"/>
          </a:p>
        </p:txBody>
      </p:sp>
    </p:spTree>
    <p:extLst>
      <p:ext uri="{BB962C8B-B14F-4D97-AF65-F5344CB8AC3E}">
        <p14:creationId xmlns:p14="http://schemas.microsoft.com/office/powerpoint/2010/main" val="2650272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まだまだ改善中です。                                           </a:t>
            </a:r>
          </a:p>
          <a:p>
            <a:endParaRPr kumimoji="1" lang="ja-JP" altLang="en-US"/>
          </a:p>
          <a:p>
            <a:r>
              <a:rPr kumimoji="1" lang="ja-JP" altLang="en-US"/>
              <a:t>   使ってみて、                                                      </a:t>
            </a:r>
          </a:p>
          <a:p>
            <a:r>
              <a:rPr kumimoji="1" lang="ja-JP" altLang="en-US"/>
              <a:t>   </a:t>
            </a:r>
            <a:r>
              <a:rPr kumimoji="1" lang="en-US" altLang="ja-JP" dirty="0"/>
              <a:t>"</a:t>
            </a:r>
            <a:r>
              <a:rPr kumimoji="1" lang="ja-JP" altLang="en-US"/>
              <a:t>この運動がほしい</a:t>
            </a:r>
            <a:r>
              <a:rPr kumimoji="1" lang="en-US" altLang="ja-JP" dirty="0"/>
              <a:t>""</a:t>
            </a:r>
            <a:r>
              <a:rPr kumimoji="1" lang="ja-JP" altLang="en-US"/>
              <a:t>ここが使いにくい</a:t>
            </a:r>
            <a:r>
              <a:rPr kumimoji="1" lang="en-US" altLang="ja-JP" dirty="0"/>
              <a:t>"</a:t>
            </a:r>
            <a:r>
              <a:rPr kumimoji="1" lang="ja-JP" altLang="en-US"/>
              <a:t>など</a:t>
            </a:r>
          </a:p>
          <a:p>
            <a:r>
              <a:rPr kumimoji="1" lang="ja-JP" altLang="en-US"/>
              <a:t>   何でも教えてください。 </a:t>
            </a:r>
          </a:p>
        </p:txBody>
      </p:sp>
      <p:sp>
        <p:nvSpPr>
          <p:cNvPr id="4" name="スライド番号プレースホルダー 3"/>
          <p:cNvSpPr>
            <a:spLocks noGrp="1"/>
          </p:cNvSpPr>
          <p:nvPr>
            <p:ph type="sldNum" sz="quarter" idx="5"/>
          </p:nvPr>
        </p:nvSpPr>
        <p:spPr/>
        <p:txBody>
          <a:bodyPr/>
          <a:lstStyle/>
          <a:p>
            <a:fld id="{850692B5-6EA2-394E-8F15-346D40051C68}" type="slidenum">
              <a:rPr kumimoji="1" lang="ja-JP" altLang="en-US" smtClean="0"/>
              <a:t>10</a:t>
            </a:fld>
            <a:endParaRPr kumimoji="1" lang="ja-JP" altLang="en-US"/>
          </a:p>
        </p:txBody>
      </p:sp>
    </p:spTree>
    <p:extLst>
      <p:ext uri="{BB962C8B-B14F-4D97-AF65-F5344CB8AC3E}">
        <p14:creationId xmlns:p14="http://schemas.microsoft.com/office/powerpoint/2010/main" val="102416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850692B5-6EA2-394E-8F15-346D40051C68}" type="slidenum">
              <a:rPr kumimoji="1" lang="ja-JP" altLang="en-US" smtClean="0"/>
              <a:t>11</a:t>
            </a:fld>
            <a:endParaRPr kumimoji="1" lang="ja-JP" altLang="en-US"/>
          </a:p>
        </p:txBody>
      </p:sp>
    </p:spTree>
    <p:extLst>
      <p:ext uri="{BB962C8B-B14F-4D97-AF65-F5344CB8AC3E}">
        <p14:creationId xmlns:p14="http://schemas.microsoft.com/office/powerpoint/2010/main" val="3400968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31B45C-10A7-B0A7-0B44-EF54CFAB873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0879751-7E8F-6A64-5EF1-85A73D299A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40D055F-6000-7A24-3AF8-BE99F0750B33}"/>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3413629B-4D33-6D1D-B630-36693CFF21E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480BB87-951E-ACC2-3436-E3A81F86DB32}"/>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3626363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2A96A2-E8DD-DB8A-558E-56CAB6019AE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FC5BFD6-F25B-A9A2-F0D4-4341CEDEC46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985BDF-779D-113A-C5CB-EF494C1DCE82}"/>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8F2053AB-7B51-4D53-1A85-649CFCBFE9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9955612-E5C8-79CD-79AF-743CBFE7F97D}"/>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203442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36BFC7-6C49-E977-B6E9-7A7CF619B32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A386C57-01DE-3783-B7C0-C7298A64B1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096EC30-6D10-5B1E-09A3-2068AFBBA4F2}"/>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BF56ABE2-B358-278E-E9C6-CDB7F8B0C9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76E323F-28F1-7F5C-1381-3093284D82DE}"/>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1842850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0769F7-1DA3-E04F-6361-96653CF48D2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7578EBC-D289-F917-7A16-AF4C0F02ACD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E3024B5-9FE3-F8E4-E68B-3E57C718CB7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41ADADE-25E5-1270-0245-29A2A1C6F74D}"/>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6" name="フッター プレースホルダー 5">
            <a:extLst>
              <a:ext uri="{FF2B5EF4-FFF2-40B4-BE49-F238E27FC236}">
                <a16:creationId xmlns:a16="http://schemas.microsoft.com/office/drawing/2014/main" id="{F7661FE1-5646-88EE-ECA1-29DAD7523C7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BA39320-9C8E-DF9E-547B-5DB0553747B4}"/>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2033446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E2A140-EF96-EFBB-7D07-AB9081E9E1F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B73B436-5A86-C1B9-AEFF-8FDAA12E1D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3E225E3-7E3F-0B66-CA6D-E05FF6B0351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1467B57-01D0-7EC5-27BD-A15E9FD334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5282A10-CFCC-58FA-DD18-3734787F07F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42C5B2-FDE8-F935-5525-9236AADA4D15}"/>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8" name="フッター プレースホルダー 7">
            <a:extLst>
              <a:ext uri="{FF2B5EF4-FFF2-40B4-BE49-F238E27FC236}">
                <a16:creationId xmlns:a16="http://schemas.microsoft.com/office/drawing/2014/main" id="{96EF6C75-E19C-88E9-0833-79B2BF281B1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206001A-B56C-A0F4-7C3D-FEF7B28277CB}"/>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1366649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8C2651-02D3-DB0F-731D-793EAEB3F77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AFBFC50-A992-5F06-E0C0-689DCB51DC47}"/>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4" name="フッター プレースホルダー 3">
            <a:extLst>
              <a:ext uri="{FF2B5EF4-FFF2-40B4-BE49-F238E27FC236}">
                <a16:creationId xmlns:a16="http://schemas.microsoft.com/office/drawing/2014/main" id="{00FFE879-A7D2-9DB6-EF38-03B66434E39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F117747-0D6A-6D6C-3E2E-6C13544E19A7}"/>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3994438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A6C8758-FB14-16F6-53FB-A47AF13E1E1B}"/>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3" name="フッター プレースホルダー 2">
            <a:extLst>
              <a:ext uri="{FF2B5EF4-FFF2-40B4-BE49-F238E27FC236}">
                <a16:creationId xmlns:a16="http://schemas.microsoft.com/office/drawing/2014/main" id="{4ED580D4-D2AE-6AA1-3A2E-F7E645A7709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AC69DD1-8703-758F-AA2D-8831EE018884}"/>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4050987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686990-BED1-EE3A-4F93-BBCAA0D7713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444FE18-2E00-7D63-9A5F-91BA10F64F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0AEE8C5-9E7B-B35A-13EC-28F01FCC09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A1C1D2B-AC87-80B5-1C38-E93DDA6E4015}"/>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6" name="フッター プレースホルダー 5">
            <a:extLst>
              <a:ext uri="{FF2B5EF4-FFF2-40B4-BE49-F238E27FC236}">
                <a16:creationId xmlns:a16="http://schemas.microsoft.com/office/drawing/2014/main" id="{5BCE0E37-A030-449C-44F0-1DA156EC6D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147C3CA-251A-965C-0BA7-9C1157D697A5}"/>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2999273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D12F37-2FC9-220D-2502-7A8EEDF7600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CE0EDDA-6207-CF2F-1445-B6E9782F1D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8413229-FE09-10EC-C853-FE7B613B7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32B4C18-49EA-8246-3FB3-9B66DE1CF7C8}"/>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6" name="フッター プレースホルダー 5">
            <a:extLst>
              <a:ext uri="{FF2B5EF4-FFF2-40B4-BE49-F238E27FC236}">
                <a16:creationId xmlns:a16="http://schemas.microsoft.com/office/drawing/2014/main" id="{00486A9C-2D5C-DEF8-1F01-74C193D8563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4A720D8-893A-EF78-6419-B34331662BCA}"/>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2848838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F577D8-25EC-81E2-BA8D-9C91362E84B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CB39CDC-DCE6-3743-5ADD-D976C58A98F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CF19FC-32AF-A514-627B-8458FFABFF46}"/>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8002518A-FD36-FBC3-D011-55C083A786D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1AA6F5B-3226-200C-D4C2-7F187B9D6CB3}"/>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1084489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FB6A740-3719-F5A7-76F2-D842866FA6E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D78F9EF-4DFE-F87A-0C91-B087E639111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935D8DF-7EA4-82A5-DBA8-E50BC35A46B7}"/>
              </a:ext>
            </a:extLst>
          </p:cNvPr>
          <p:cNvSpPr>
            <a:spLocks noGrp="1"/>
          </p:cNvSpPr>
          <p:nvPr>
            <p:ph type="dt" sz="half" idx="10"/>
          </p:nvPr>
        </p:nvSpPr>
        <p:spPr/>
        <p:txBody>
          <a:bodyPr/>
          <a:lstStyle/>
          <a:p>
            <a:fld id="{3553BD35-ADA8-B947-9159-199F380D2FAE}"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8A489321-1153-C8FE-5D14-12EDADE8B5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F2EE45D-A1F6-9E50-1F09-F38CDA18CC49}"/>
              </a:ext>
            </a:extLst>
          </p:cNvPr>
          <p:cNvSpPr>
            <a:spLocks noGrp="1"/>
          </p:cNvSpPr>
          <p:nvPr>
            <p:ph type="sldNum" sz="quarter" idx="12"/>
          </p:nvPr>
        </p:nvSpPr>
        <p:spPr/>
        <p:txBody>
          <a:body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4216600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A222EA3-5BC7-5D14-7FAA-26FC463A5B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91241B5-3562-FC1F-EBC8-78A0629897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25327DF-0B23-5B71-8341-3EFE1CBC65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53BD35-ADA8-B947-9159-199F380D2FAE}"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6CB2FED2-5DD2-F75F-4513-A32AA04D1E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A20EC03-DEA1-0AD5-E5EF-7DD874205F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76E2DE-BB73-3343-8793-D5537CFAD771}" type="slidenum">
              <a:rPr kumimoji="1" lang="ja-JP" altLang="en-US" smtClean="0"/>
              <a:t>‹#›</a:t>
            </a:fld>
            <a:endParaRPr kumimoji="1" lang="ja-JP" altLang="en-US"/>
          </a:p>
        </p:txBody>
      </p:sp>
    </p:spTree>
    <p:extLst>
      <p:ext uri="{BB962C8B-B14F-4D97-AF65-F5344CB8AC3E}">
        <p14:creationId xmlns:p14="http://schemas.microsoft.com/office/powerpoint/2010/main" val="193815474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C1A11113-C42F-77E5-E3DA-84AE7061CF66}"/>
              </a:ext>
            </a:extLst>
          </p:cNvPr>
          <p:cNvPicPr>
            <a:picLocks noChangeAspect="1"/>
          </p:cNvPicPr>
          <p:nvPr/>
        </p:nvPicPr>
        <p:blipFill>
          <a:blip r:embed="rId2"/>
          <a:stretch>
            <a:fillRect/>
          </a:stretch>
        </p:blipFill>
        <p:spPr>
          <a:xfrm>
            <a:off x="253615" y="4323968"/>
            <a:ext cx="3044222" cy="2283166"/>
          </a:xfrm>
          <a:prstGeom prst="rect">
            <a:avLst/>
          </a:prstGeom>
          <a:scene3d>
            <a:camera prst="orthographicFront">
              <a:rot lat="0" lon="0" rev="0"/>
            </a:camera>
            <a:lightRig rig="threePt" dir="t"/>
          </a:scene3d>
        </p:spPr>
      </p:pic>
      <p:sp>
        <p:nvSpPr>
          <p:cNvPr id="4" name="角丸四角形 3">
            <a:extLst>
              <a:ext uri="{FF2B5EF4-FFF2-40B4-BE49-F238E27FC236}">
                <a16:creationId xmlns:a16="http://schemas.microsoft.com/office/drawing/2014/main" id="{030F0D6A-BF14-CE29-F757-2BFAC6C1A1EA}"/>
              </a:ext>
            </a:extLst>
          </p:cNvPr>
          <p:cNvSpPr/>
          <p:nvPr/>
        </p:nvSpPr>
        <p:spPr>
          <a:xfrm>
            <a:off x="891250" y="2222339"/>
            <a:ext cx="10409499" cy="1828800"/>
          </a:xfrm>
          <a:prstGeom prst="roundRect">
            <a:avLst/>
          </a:prstGeom>
          <a:noFill/>
          <a:ln w="41275">
            <a:solidFill>
              <a:srgbClr val="031C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highlight>
                <a:srgbClr val="031C58"/>
              </a:highlight>
            </a:endParaRPr>
          </a:p>
        </p:txBody>
      </p:sp>
      <p:sp>
        <p:nvSpPr>
          <p:cNvPr id="2" name="タイトル 1">
            <a:extLst>
              <a:ext uri="{FF2B5EF4-FFF2-40B4-BE49-F238E27FC236}">
                <a16:creationId xmlns:a16="http://schemas.microsoft.com/office/drawing/2014/main" id="{8F4C6116-7669-695C-E35E-24DF99BA1278}"/>
              </a:ext>
            </a:extLst>
          </p:cNvPr>
          <p:cNvSpPr>
            <a:spLocks noGrp="1"/>
          </p:cNvSpPr>
          <p:nvPr>
            <p:ph type="ctrTitle"/>
          </p:nvPr>
        </p:nvSpPr>
        <p:spPr>
          <a:xfrm>
            <a:off x="891250" y="2652049"/>
            <a:ext cx="10409499" cy="882570"/>
          </a:xfrm>
        </p:spPr>
        <p:txBody>
          <a:bodyPr>
            <a:normAutofit/>
          </a:bodyPr>
          <a:lstStyle/>
          <a:p>
            <a:r>
              <a:rPr lang="ja-JP" altLang="en-US" sz="4400">
                <a:solidFill>
                  <a:srgbClr val="031C58"/>
                </a:solidFill>
                <a:latin typeface="HGPGothicE" panose="020B0900000000000000" pitchFamily="34" charset="-128"/>
                <a:ea typeface="HGPGothicE" panose="020B0900000000000000" pitchFamily="34" charset="-128"/>
              </a:rPr>
              <a:t>自主トレが変える、患者さんの １４</a:t>
            </a:r>
            <a:r>
              <a:rPr lang="en-US" altLang="ja-JP" sz="4400" dirty="0">
                <a:solidFill>
                  <a:srgbClr val="031C58"/>
                </a:solidFill>
                <a:latin typeface="HGPGothicE" panose="020B0900000000000000" pitchFamily="34" charset="-128"/>
                <a:ea typeface="HGPGothicE" panose="020B0900000000000000" pitchFamily="34" charset="-128"/>
              </a:rPr>
              <a:t> </a:t>
            </a:r>
            <a:r>
              <a:rPr lang="ja-JP" altLang="en-US" sz="4400">
                <a:solidFill>
                  <a:srgbClr val="031C58"/>
                </a:solidFill>
                <a:latin typeface="HGPGothicE" panose="020B0900000000000000" pitchFamily="34" charset="-128"/>
                <a:ea typeface="HGPGothicE" panose="020B0900000000000000" pitchFamily="34" charset="-128"/>
              </a:rPr>
              <a:t>時間</a:t>
            </a:r>
            <a:endParaRPr kumimoji="1" lang="ja-JP" altLang="en-US" sz="4400">
              <a:solidFill>
                <a:srgbClr val="031C58"/>
              </a:solidFill>
              <a:latin typeface="HGPGothicE" panose="020B0900000000000000" pitchFamily="34" charset="-128"/>
              <a:ea typeface="HGPGothicE" panose="020B0900000000000000" pitchFamily="34" charset="-128"/>
            </a:endParaRPr>
          </a:p>
        </p:txBody>
      </p:sp>
      <p:pic>
        <p:nvPicPr>
          <p:cNvPr id="13" name="図 12">
            <a:extLst>
              <a:ext uri="{FF2B5EF4-FFF2-40B4-BE49-F238E27FC236}">
                <a16:creationId xmlns:a16="http://schemas.microsoft.com/office/drawing/2014/main" id="{D04E5A82-E7D4-4DF1-0B79-7026C7D0DE96}"/>
              </a:ext>
            </a:extLst>
          </p:cNvPr>
          <p:cNvPicPr>
            <a:picLocks noChangeAspect="1"/>
          </p:cNvPicPr>
          <p:nvPr/>
        </p:nvPicPr>
        <p:blipFill>
          <a:blip r:embed="rId3"/>
          <a:stretch>
            <a:fillRect/>
          </a:stretch>
        </p:blipFill>
        <p:spPr>
          <a:xfrm>
            <a:off x="9361893" y="4051139"/>
            <a:ext cx="2715388" cy="2715388"/>
          </a:xfrm>
          <a:prstGeom prst="rect">
            <a:avLst/>
          </a:prstGeom>
        </p:spPr>
      </p:pic>
    </p:spTree>
    <p:extLst>
      <p:ext uri="{BB962C8B-B14F-4D97-AF65-F5344CB8AC3E}">
        <p14:creationId xmlns:p14="http://schemas.microsoft.com/office/powerpoint/2010/main" val="23069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A8B7857-6DE2-9270-A795-F87C85F9A98A}"/>
              </a:ext>
            </a:extLst>
          </p:cNvPr>
          <p:cNvSpPr txBox="1"/>
          <p:nvPr/>
        </p:nvSpPr>
        <p:spPr>
          <a:xfrm>
            <a:off x="950685" y="2028616"/>
            <a:ext cx="10290629" cy="2800767"/>
          </a:xfrm>
          <a:prstGeom prst="rect">
            <a:avLst/>
          </a:prstGeom>
          <a:noFill/>
        </p:spPr>
        <p:txBody>
          <a:bodyPr wrap="square" rtlCol="0">
            <a:spAutoFit/>
          </a:bodyPr>
          <a:lstStyle/>
          <a:p>
            <a:pPr algn="ctr"/>
            <a:r>
              <a:rPr lang="ja-JP" altLang="en-US" sz="8800" u="sng">
                <a:solidFill>
                  <a:srgbClr val="031C58"/>
                </a:solidFill>
                <a:latin typeface="HGPGothicE" panose="020B0900000000000000" pitchFamily="34" charset="-128"/>
                <a:ea typeface="HGPGothicE" panose="020B0900000000000000" pitchFamily="34" charset="-128"/>
              </a:rPr>
              <a:t>１４時間 </a:t>
            </a:r>
            <a:endParaRPr lang="en-US" altLang="ja-JP" sz="6600" u="sng" dirty="0">
              <a:solidFill>
                <a:srgbClr val="031C58"/>
              </a:solidFill>
              <a:latin typeface="HGPGothicE" panose="020B0900000000000000" pitchFamily="34" charset="-128"/>
              <a:ea typeface="HGPGothicE" panose="020B0900000000000000" pitchFamily="34" charset="-128"/>
            </a:endParaRPr>
          </a:p>
          <a:p>
            <a:pPr algn="ctr"/>
            <a:endParaRPr lang="en-US" altLang="ja-JP" sz="4400" dirty="0">
              <a:solidFill>
                <a:srgbClr val="031C58"/>
              </a:solidFill>
              <a:latin typeface="HGPGothicE" panose="020B0900000000000000" pitchFamily="34" charset="-128"/>
              <a:ea typeface="HGPGothicE" panose="020B0900000000000000" pitchFamily="34" charset="-128"/>
            </a:endParaRPr>
          </a:p>
          <a:p>
            <a:pPr algn="ctr"/>
            <a:r>
              <a:rPr lang="ja-JP" altLang="en-US" sz="4400">
                <a:solidFill>
                  <a:srgbClr val="031C58"/>
                </a:solidFill>
                <a:latin typeface="HGPGothicE" panose="020B0900000000000000" pitchFamily="34" charset="-128"/>
                <a:ea typeface="HGPGothicE" panose="020B0900000000000000" pitchFamily="34" charset="-128"/>
              </a:rPr>
              <a:t>これは何の時間でしょうか？ </a:t>
            </a:r>
            <a:endParaRPr kumimoji="1" lang="ja-JP" altLang="en-US" sz="4400">
              <a:solidFill>
                <a:srgbClr val="031C58"/>
              </a:solidFill>
              <a:latin typeface="HGPGothicE" panose="020B0900000000000000" pitchFamily="34" charset="-128"/>
              <a:ea typeface="HGPGothicE" panose="020B0900000000000000" pitchFamily="34" charset="-128"/>
            </a:endParaRPr>
          </a:p>
        </p:txBody>
      </p:sp>
    </p:spTree>
    <p:extLst>
      <p:ext uri="{BB962C8B-B14F-4D97-AF65-F5344CB8AC3E}">
        <p14:creationId xmlns:p14="http://schemas.microsoft.com/office/powerpoint/2010/main" val="1578973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ボックス 9">
            <a:extLst>
              <a:ext uri="{FF2B5EF4-FFF2-40B4-BE49-F238E27FC236}">
                <a16:creationId xmlns:a16="http://schemas.microsoft.com/office/drawing/2014/main" id="{29709799-6A9B-E41E-630F-187C5021A2E1}"/>
              </a:ext>
            </a:extLst>
          </p:cNvPr>
          <p:cNvSpPr txBox="1"/>
          <p:nvPr/>
        </p:nvSpPr>
        <p:spPr>
          <a:xfrm>
            <a:off x="734509" y="4794434"/>
            <a:ext cx="10722980" cy="646331"/>
          </a:xfrm>
          <a:prstGeom prst="rect">
            <a:avLst/>
          </a:prstGeom>
          <a:noFill/>
        </p:spPr>
        <p:txBody>
          <a:bodyPr wrap="square" rtlCol="0">
            <a:spAutoFit/>
          </a:bodyPr>
          <a:lstStyle/>
          <a:p>
            <a:r>
              <a:rPr kumimoji="1" lang="ja-JP" altLang="en-US" sz="3600">
                <a:solidFill>
                  <a:srgbClr val="031C58"/>
                </a:solidFill>
                <a:latin typeface="HGPGothicE" panose="020B0900000000000000" pitchFamily="34" charset="-128"/>
                <a:ea typeface="HGPGothicE" panose="020B0900000000000000" pitchFamily="34" charset="-128"/>
              </a:rPr>
              <a:t>この</a:t>
            </a:r>
            <a:r>
              <a:rPr kumimoji="1" lang="en-US" altLang="ja-JP" sz="3600" dirty="0">
                <a:solidFill>
                  <a:srgbClr val="031C58"/>
                </a:solidFill>
                <a:latin typeface="HGPGothicE" panose="020B0900000000000000" pitchFamily="34" charset="-128"/>
                <a:ea typeface="HGPGothicE" panose="020B0900000000000000" pitchFamily="34" charset="-128"/>
              </a:rPr>
              <a:t>14</a:t>
            </a:r>
            <a:r>
              <a:rPr kumimoji="1" lang="ja-JP" altLang="en-US" sz="3600">
                <a:solidFill>
                  <a:srgbClr val="031C58"/>
                </a:solidFill>
                <a:latin typeface="HGPGothicE" panose="020B0900000000000000" pitchFamily="34" charset="-128"/>
                <a:ea typeface="HGPGothicE" panose="020B0900000000000000" pitchFamily="34" charset="-128"/>
              </a:rPr>
              <a:t>時間、患者さんはどのように過ごしていますか？</a:t>
            </a:r>
          </a:p>
        </p:txBody>
      </p:sp>
      <p:sp>
        <p:nvSpPr>
          <p:cNvPr id="3" name="テキスト ボックス 2">
            <a:extLst>
              <a:ext uri="{FF2B5EF4-FFF2-40B4-BE49-F238E27FC236}">
                <a16:creationId xmlns:a16="http://schemas.microsoft.com/office/drawing/2014/main" id="{3D522F49-6EBE-52CD-BEC5-4B7FCE342A16}"/>
              </a:ext>
            </a:extLst>
          </p:cNvPr>
          <p:cNvSpPr txBox="1"/>
          <p:nvPr/>
        </p:nvSpPr>
        <p:spPr>
          <a:xfrm>
            <a:off x="243069" y="6308209"/>
            <a:ext cx="6609144" cy="338554"/>
          </a:xfrm>
          <a:prstGeom prst="rect">
            <a:avLst/>
          </a:prstGeom>
          <a:noFill/>
        </p:spPr>
        <p:txBody>
          <a:bodyPr wrap="square" rtlCol="0">
            <a:spAutoFit/>
          </a:bodyPr>
          <a:lstStyle/>
          <a:p>
            <a:r>
              <a:rPr kumimoji="1" lang="ja-JP" altLang="en-US" sz="1600"/>
              <a:t>出典：回復期リハビリテーション病棟</a:t>
            </a:r>
            <a:r>
              <a:rPr lang="ja-JP" altLang="en-US" sz="1600"/>
              <a:t>実態調査（入院料１）</a:t>
            </a:r>
            <a:endParaRPr kumimoji="1" lang="en-US" altLang="ja-JP" sz="1600" dirty="0"/>
          </a:p>
        </p:txBody>
      </p:sp>
      <p:pic>
        <p:nvPicPr>
          <p:cNvPr id="7" name="コンテンツ プレースホルダー 6">
            <a:extLst>
              <a:ext uri="{FF2B5EF4-FFF2-40B4-BE49-F238E27FC236}">
                <a16:creationId xmlns:a16="http://schemas.microsoft.com/office/drawing/2014/main" id="{9668B749-785C-AB6A-D416-EFFBE63E049D}"/>
              </a:ext>
            </a:extLst>
          </p:cNvPr>
          <p:cNvPicPr>
            <a:picLocks noGrp="1" noChangeAspect="1"/>
          </p:cNvPicPr>
          <p:nvPr>
            <p:ph idx="1"/>
          </p:nvPr>
        </p:nvPicPr>
        <p:blipFill>
          <a:blip r:embed="rId3"/>
          <a:stretch>
            <a:fillRect/>
          </a:stretch>
        </p:blipFill>
        <p:spPr>
          <a:xfrm>
            <a:off x="838198" y="1109749"/>
            <a:ext cx="10515600" cy="3505200"/>
          </a:xfrm>
          <a:prstGeom prst="rect">
            <a:avLst/>
          </a:prstGeom>
        </p:spPr>
      </p:pic>
      <p:sp>
        <p:nvSpPr>
          <p:cNvPr id="11" name="テキスト ボックス 10">
            <a:extLst>
              <a:ext uri="{FF2B5EF4-FFF2-40B4-BE49-F238E27FC236}">
                <a16:creationId xmlns:a16="http://schemas.microsoft.com/office/drawing/2014/main" id="{8B002420-7AB1-7B0B-FBD8-F9212EFE4F5A}"/>
              </a:ext>
            </a:extLst>
          </p:cNvPr>
          <p:cNvSpPr txBox="1"/>
          <p:nvPr/>
        </p:nvSpPr>
        <p:spPr>
          <a:xfrm>
            <a:off x="3954681" y="250565"/>
            <a:ext cx="4282633" cy="769441"/>
          </a:xfrm>
          <a:prstGeom prst="rect">
            <a:avLst/>
          </a:prstGeom>
          <a:noFill/>
        </p:spPr>
        <p:txBody>
          <a:bodyPr wrap="square" rtlCol="0">
            <a:spAutoFit/>
          </a:bodyPr>
          <a:lstStyle/>
          <a:p>
            <a:r>
              <a:rPr kumimoji="1" lang="ja-JP" altLang="en-US" sz="4400">
                <a:solidFill>
                  <a:srgbClr val="031C58"/>
                </a:solidFill>
                <a:latin typeface="HGPGothicE" panose="020B0900000000000000" pitchFamily="34" charset="-128"/>
                <a:ea typeface="HGPGothicE" panose="020B0900000000000000" pitchFamily="34" charset="-128"/>
              </a:rPr>
              <a:t>リハ以外の時間</a:t>
            </a:r>
          </a:p>
        </p:txBody>
      </p:sp>
    </p:spTree>
    <p:extLst>
      <p:ext uri="{BB962C8B-B14F-4D97-AF65-F5344CB8AC3E}">
        <p14:creationId xmlns:p14="http://schemas.microsoft.com/office/powerpoint/2010/main" val="2213662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E08816-2703-2AC0-2678-BDD43B7CB738}"/>
              </a:ext>
            </a:extLst>
          </p:cNvPr>
          <p:cNvSpPr>
            <a:spLocks noGrp="1"/>
          </p:cNvSpPr>
          <p:nvPr>
            <p:ph type="ctrTitle"/>
          </p:nvPr>
        </p:nvSpPr>
        <p:spPr/>
        <p:txBody>
          <a:bodyPr/>
          <a:lstStyle/>
          <a:p>
            <a:endParaRPr kumimoji="1" lang="ja-JP" altLang="en-US"/>
          </a:p>
        </p:txBody>
      </p:sp>
      <p:sp>
        <p:nvSpPr>
          <p:cNvPr id="3" name="字幕 2">
            <a:extLst>
              <a:ext uri="{FF2B5EF4-FFF2-40B4-BE49-F238E27FC236}">
                <a16:creationId xmlns:a16="http://schemas.microsoft.com/office/drawing/2014/main" id="{BC753BC9-42F3-F946-B251-0AB381E7C81A}"/>
              </a:ext>
            </a:extLst>
          </p:cNvPr>
          <p:cNvSpPr>
            <a:spLocks noGrp="1"/>
          </p:cNvSpPr>
          <p:nvPr>
            <p:ph type="subTitle" idx="1"/>
          </p:nvPr>
        </p:nvSpPr>
        <p:spPr/>
        <p:txBody>
          <a:bodyPr/>
          <a:lstStyle/>
          <a:p>
            <a:endParaRPr kumimoji="1" lang="ja-JP" altLang="en-US"/>
          </a:p>
        </p:txBody>
      </p:sp>
      <p:pic>
        <p:nvPicPr>
          <p:cNvPr id="5" name="図 4">
            <a:extLst>
              <a:ext uri="{FF2B5EF4-FFF2-40B4-BE49-F238E27FC236}">
                <a16:creationId xmlns:a16="http://schemas.microsoft.com/office/drawing/2014/main" id="{FFD3C5E9-E63B-FBE8-BC0F-A0B92627B37C}"/>
              </a:ext>
            </a:extLst>
          </p:cNvPr>
          <p:cNvPicPr>
            <a:picLocks noChangeAspect="1"/>
          </p:cNvPicPr>
          <p:nvPr/>
        </p:nvPicPr>
        <p:blipFill>
          <a:blip r:embed="rId3"/>
          <a:stretch>
            <a:fillRect/>
          </a:stretch>
        </p:blipFill>
        <p:spPr>
          <a:xfrm>
            <a:off x="0" y="-1"/>
            <a:ext cx="12192000" cy="6854353"/>
          </a:xfrm>
          <a:prstGeom prst="rect">
            <a:avLst/>
          </a:prstGeom>
        </p:spPr>
      </p:pic>
      <p:sp>
        <p:nvSpPr>
          <p:cNvPr id="4" name="正方形/長方形 3">
            <a:extLst>
              <a:ext uri="{FF2B5EF4-FFF2-40B4-BE49-F238E27FC236}">
                <a16:creationId xmlns:a16="http://schemas.microsoft.com/office/drawing/2014/main" id="{18F49477-C79C-D97B-8648-1F69DA0575E9}"/>
              </a:ext>
            </a:extLst>
          </p:cNvPr>
          <p:cNvSpPr/>
          <p:nvPr/>
        </p:nvSpPr>
        <p:spPr>
          <a:xfrm>
            <a:off x="914400" y="6249047"/>
            <a:ext cx="783771" cy="209005"/>
          </a:xfrm>
          <a:prstGeom prst="rect">
            <a:avLst/>
          </a:prstGeom>
          <a:solidFill>
            <a:srgbClr val="FDFFFF"/>
          </a:solidFill>
          <a:ln>
            <a:solidFill>
              <a:srgbClr val="FD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EE24CF4F-AB30-72F6-BB48-61CA391C8BD7}"/>
              </a:ext>
            </a:extLst>
          </p:cNvPr>
          <p:cNvSpPr txBox="1"/>
          <p:nvPr/>
        </p:nvSpPr>
        <p:spPr>
          <a:xfrm>
            <a:off x="1184365" y="6204855"/>
            <a:ext cx="679269" cy="292388"/>
          </a:xfrm>
          <a:prstGeom prst="rect">
            <a:avLst/>
          </a:prstGeom>
          <a:noFill/>
        </p:spPr>
        <p:txBody>
          <a:bodyPr wrap="square" rtlCol="0">
            <a:spAutoFit/>
          </a:bodyPr>
          <a:lstStyle/>
          <a:p>
            <a:r>
              <a:rPr lang="en" altLang="ja-JP" sz="1300" b="1" dirty="0">
                <a:solidFill>
                  <a:srgbClr val="3C3A3B"/>
                </a:solidFill>
              </a:rPr>
              <a:t>Kanai</a:t>
            </a:r>
            <a:endParaRPr kumimoji="1" lang="ja-JP" altLang="en-US" sz="1300" b="1">
              <a:solidFill>
                <a:srgbClr val="3C3A3B"/>
              </a:solidFill>
            </a:endParaRPr>
          </a:p>
        </p:txBody>
      </p:sp>
    </p:spTree>
    <p:extLst>
      <p:ext uri="{BB962C8B-B14F-4D97-AF65-F5344CB8AC3E}">
        <p14:creationId xmlns:p14="http://schemas.microsoft.com/office/powerpoint/2010/main" val="2306992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コンテンツ プレースホルダー 8">
            <a:extLst>
              <a:ext uri="{FF2B5EF4-FFF2-40B4-BE49-F238E27FC236}">
                <a16:creationId xmlns:a16="http://schemas.microsoft.com/office/drawing/2014/main" id="{B81D829C-7196-074E-4CC1-FCEBB9DBB0D5}"/>
              </a:ext>
            </a:extLst>
          </p:cNvPr>
          <p:cNvPicPr>
            <a:picLocks noGrp="1" noChangeAspect="1"/>
          </p:cNvPicPr>
          <p:nvPr>
            <p:ph idx="1"/>
          </p:nvPr>
        </p:nvPicPr>
        <p:blipFill>
          <a:blip r:embed="rId3"/>
          <a:stretch>
            <a:fillRect/>
          </a:stretch>
        </p:blipFill>
        <p:spPr>
          <a:xfrm>
            <a:off x="0" y="0"/>
            <a:ext cx="12192000" cy="6854354"/>
          </a:xfrm>
          <a:prstGeom prst="rect">
            <a:avLst/>
          </a:prstGeom>
        </p:spPr>
      </p:pic>
    </p:spTree>
    <p:extLst>
      <p:ext uri="{BB962C8B-B14F-4D97-AF65-F5344CB8AC3E}">
        <p14:creationId xmlns:p14="http://schemas.microsoft.com/office/powerpoint/2010/main" val="999338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a:extLst>
              <a:ext uri="{FF2B5EF4-FFF2-40B4-BE49-F238E27FC236}">
                <a16:creationId xmlns:a16="http://schemas.microsoft.com/office/drawing/2014/main" id="{7565E4EC-0FE3-55AF-DF78-90828121E040}"/>
              </a:ext>
            </a:extLst>
          </p:cNvPr>
          <p:cNvPicPr>
            <a:picLocks noGrp="1" noChangeAspect="1"/>
          </p:cNvPicPr>
          <p:nvPr>
            <p:ph idx="1"/>
          </p:nvPr>
        </p:nvPicPr>
        <p:blipFill>
          <a:blip r:embed="rId3"/>
          <a:stretch>
            <a:fillRect/>
          </a:stretch>
        </p:blipFill>
        <p:spPr>
          <a:xfrm>
            <a:off x="0" y="3645"/>
            <a:ext cx="12192000" cy="6854355"/>
          </a:xfrm>
          <a:prstGeom prst="rect">
            <a:avLst/>
          </a:prstGeom>
        </p:spPr>
      </p:pic>
    </p:spTree>
    <p:extLst>
      <p:ext uri="{BB962C8B-B14F-4D97-AF65-F5344CB8AC3E}">
        <p14:creationId xmlns:p14="http://schemas.microsoft.com/office/powerpoint/2010/main" val="3813003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332363E-89AF-DED9-3F3D-C8B5FD44A3A9}"/>
              </a:ext>
            </a:extLst>
          </p:cNvPr>
          <p:cNvSpPr txBox="1"/>
          <p:nvPr/>
        </p:nvSpPr>
        <p:spPr>
          <a:xfrm>
            <a:off x="3048000" y="3244334"/>
            <a:ext cx="6096000" cy="369332"/>
          </a:xfrm>
          <a:prstGeom prst="rect">
            <a:avLst/>
          </a:prstGeom>
          <a:noFill/>
        </p:spPr>
        <p:txBody>
          <a:bodyPr wrap="square">
            <a:spAutoFit/>
          </a:bodyPr>
          <a:lstStyle/>
          <a:p>
            <a:endParaRPr lang="ja-JP" altLang="en-US"/>
          </a:p>
        </p:txBody>
      </p:sp>
      <p:pic>
        <p:nvPicPr>
          <p:cNvPr id="5" name="図 4">
            <a:extLst>
              <a:ext uri="{FF2B5EF4-FFF2-40B4-BE49-F238E27FC236}">
                <a16:creationId xmlns:a16="http://schemas.microsoft.com/office/drawing/2014/main" id="{90970E34-9E3B-BDF5-0E80-52E29EC69079}"/>
              </a:ext>
            </a:extLst>
          </p:cNvPr>
          <p:cNvPicPr>
            <a:picLocks noChangeAspect="1"/>
          </p:cNvPicPr>
          <p:nvPr/>
        </p:nvPicPr>
        <p:blipFill>
          <a:blip r:embed="rId2"/>
          <a:stretch>
            <a:fillRect/>
          </a:stretch>
        </p:blipFill>
        <p:spPr>
          <a:xfrm>
            <a:off x="6299710" y="1403409"/>
            <a:ext cx="4596379" cy="4596379"/>
          </a:xfrm>
          <a:prstGeom prst="rect">
            <a:avLst/>
          </a:prstGeom>
        </p:spPr>
      </p:pic>
      <p:sp>
        <p:nvSpPr>
          <p:cNvPr id="6" name="テキスト ボックス 5">
            <a:extLst>
              <a:ext uri="{FF2B5EF4-FFF2-40B4-BE49-F238E27FC236}">
                <a16:creationId xmlns:a16="http://schemas.microsoft.com/office/drawing/2014/main" id="{87335A52-D725-4C83-0751-E41805F5B209}"/>
              </a:ext>
            </a:extLst>
          </p:cNvPr>
          <p:cNvSpPr txBox="1"/>
          <p:nvPr/>
        </p:nvSpPr>
        <p:spPr>
          <a:xfrm>
            <a:off x="2336800" y="564634"/>
            <a:ext cx="7518400" cy="769441"/>
          </a:xfrm>
          <a:prstGeom prst="rect">
            <a:avLst/>
          </a:prstGeom>
          <a:noFill/>
        </p:spPr>
        <p:txBody>
          <a:bodyPr wrap="square" rtlCol="0">
            <a:spAutoFit/>
          </a:bodyPr>
          <a:lstStyle/>
          <a:p>
            <a:r>
              <a:rPr lang="ja-JP" altLang="en-US" sz="4400">
                <a:solidFill>
                  <a:srgbClr val="031C58"/>
                </a:solidFill>
                <a:latin typeface="HGPGothicE" panose="020B0900000000000000" pitchFamily="34" charset="-128"/>
                <a:ea typeface="HGPGothicE" panose="020B0900000000000000" pitchFamily="34" charset="-128"/>
              </a:rPr>
              <a:t>現場の課題感を教えてください </a:t>
            </a:r>
            <a:endParaRPr kumimoji="1" lang="ja-JP" altLang="en-US" sz="4400">
              <a:solidFill>
                <a:srgbClr val="031C58"/>
              </a:solidFill>
              <a:latin typeface="HGPGothicE" panose="020B0900000000000000" pitchFamily="34" charset="-128"/>
              <a:ea typeface="HGPGothicE" panose="020B0900000000000000" pitchFamily="34" charset="-128"/>
            </a:endParaRPr>
          </a:p>
        </p:txBody>
      </p:sp>
      <p:sp>
        <p:nvSpPr>
          <p:cNvPr id="7" name="テキスト ボックス 6">
            <a:extLst>
              <a:ext uri="{FF2B5EF4-FFF2-40B4-BE49-F238E27FC236}">
                <a16:creationId xmlns:a16="http://schemas.microsoft.com/office/drawing/2014/main" id="{B5A18618-22BA-6D24-80EA-C8C1365A2D26}"/>
              </a:ext>
            </a:extLst>
          </p:cNvPr>
          <p:cNvSpPr txBox="1"/>
          <p:nvPr/>
        </p:nvSpPr>
        <p:spPr>
          <a:xfrm>
            <a:off x="775720" y="2240627"/>
            <a:ext cx="5523990" cy="2554545"/>
          </a:xfrm>
          <a:prstGeom prst="rect">
            <a:avLst/>
          </a:prstGeom>
          <a:noFill/>
        </p:spPr>
        <p:txBody>
          <a:bodyPr wrap="square" rtlCol="0">
            <a:spAutoFit/>
          </a:bodyPr>
          <a:lstStyle/>
          <a:p>
            <a:r>
              <a:rPr lang="ja-JP" altLang="en-US" sz="2000">
                <a:solidFill>
                  <a:srgbClr val="031C58"/>
                </a:solidFill>
                <a:latin typeface="HGPGothicE" panose="020B0900000000000000" pitchFamily="34" charset="-128"/>
                <a:ea typeface="HGPGothicE" panose="020B0900000000000000" pitchFamily="34" charset="-128"/>
              </a:rPr>
              <a:t>▼ 設問内容</a:t>
            </a:r>
          </a:p>
          <a:p>
            <a:r>
              <a:rPr lang="ja-JP" altLang="en-US" sz="2000">
                <a:solidFill>
                  <a:srgbClr val="031C58"/>
                </a:solidFill>
                <a:latin typeface="HGPGothicE" panose="020B0900000000000000" pitchFamily="34" charset="-128"/>
                <a:ea typeface="HGPGothicE" panose="020B0900000000000000" pitchFamily="34" charset="-128"/>
              </a:rPr>
              <a:t>  ・現状の指導書作成方法</a:t>
            </a:r>
          </a:p>
          <a:p>
            <a:r>
              <a:rPr lang="ja-JP" altLang="en-US" sz="2000">
                <a:solidFill>
                  <a:srgbClr val="031C58"/>
                </a:solidFill>
                <a:latin typeface="HGPGothicE" panose="020B0900000000000000" pitchFamily="34" charset="-128"/>
                <a:ea typeface="HGPGothicE" panose="020B0900000000000000" pitchFamily="34" charset="-128"/>
              </a:rPr>
              <a:t>  ・作成における課題感</a:t>
            </a:r>
          </a:p>
          <a:p>
            <a:r>
              <a:rPr lang="ja-JP" altLang="en-US" sz="2000">
                <a:solidFill>
                  <a:srgbClr val="031C58"/>
                </a:solidFill>
                <a:latin typeface="HGPGothicE" panose="020B0900000000000000" pitchFamily="34" charset="-128"/>
                <a:ea typeface="HGPGothicE" panose="020B0900000000000000" pitchFamily="34" charset="-128"/>
              </a:rPr>
              <a:t>  ・自主トレ指導書作成アプリへの興味度</a:t>
            </a:r>
          </a:p>
          <a:p>
            <a:r>
              <a:rPr lang="ja-JP" altLang="en-US" sz="2000">
                <a:solidFill>
                  <a:srgbClr val="031C58"/>
                </a:solidFill>
                <a:latin typeface="HGPGothicE" panose="020B0900000000000000" pitchFamily="34" charset="-128"/>
                <a:ea typeface="HGPGothicE" panose="020B0900000000000000" pitchFamily="34" charset="-128"/>
              </a:rPr>
              <a:t>                                                                                                                                  </a:t>
            </a:r>
          </a:p>
          <a:p>
            <a:r>
              <a:rPr lang="ja-JP" altLang="en-US" sz="2000">
                <a:solidFill>
                  <a:srgbClr val="031C58"/>
                </a:solidFill>
                <a:latin typeface="HGPGothicE" panose="020B0900000000000000" pitchFamily="34" charset="-128"/>
                <a:ea typeface="HGPGothicE" panose="020B0900000000000000" pitchFamily="34" charset="-128"/>
              </a:rPr>
              <a:t>▼ いま感じている率直な印象でお答えください。</a:t>
            </a:r>
          </a:p>
          <a:p>
            <a:r>
              <a:rPr lang="ja-JP" altLang="en-US" sz="2000">
                <a:solidFill>
                  <a:srgbClr val="031C58"/>
                </a:solidFill>
                <a:latin typeface="HGPGothicE" panose="020B0900000000000000" pitchFamily="34" charset="-128"/>
                <a:ea typeface="HGPGothicE" panose="020B0900000000000000" pitchFamily="34" charset="-128"/>
              </a:rPr>
              <a:t>                                                                                                                                  </a:t>
            </a:r>
          </a:p>
          <a:p>
            <a:r>
              <a:rPr lang="ja-JP" altLang="en-US" sz="2000">
                <a:solidFill>
                  <a:srgbClr val="031C58"/>
                </a:solidFill>
                <a:latin typeface="HGPGothicE" panose="020B0900000000000000" pitchFamily="34" charset="-128"/>
                <a:ea typeface="HGPGothicE" panose="020B0900000000000000" pitchFamily="34" charset="-128"/>
              </a:rPr>
              <a:t>▼ 匿名回答です。 </a:t>
            </a:r>
            <a:endParaRPr kumimoji="1" lang="ja-JP" altLang="en-US" sz="2000">
              <a:solidFill>
                <a:srgbClr val="031C58"/>
              </a:solidFill>
              <a:latin typeface="HGPGothicE" panose="020B0900000000000000" pitchFamily="34" charset="-128"/>
              <a:ea typeface="HGPGothicE" panose="020B0900000000000000" pitchFamily="34" charset="-128"/>
            </a:endParaRPr>
          </a:p>
        </p:txBody>
      </p:sp>
    </p:spTree>
    <p:extLst>
      <p:ext uri="{BB962C8B-B14F-4D97-AF65-F5344CB8AC3E}">
        <p14:creationId xmlns:p14="http://schemas.microsoft.com/office/powerpoint/2010/main" val="3292918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2DA551-8C56-D477-34B3-DFB272F46189}"/>
              </a:ext>
            </a:extLst>
          </p:cNvPr>
          <p:cNvSpPr>
            <a:spLocks noGrp="1"/>
          </p:cNvSpPr>
          <p:nvPr>
            <p:ph type="title"/>
          </p:nvPr>
        </p:nvSpPr>
        <p:spPr>
          <a:xfrm>
            <a:off x="1555348" y="320552"/>
            <a:ext cx="9081304" cy="1359503"/>
          </a:xfrm>
        </p:spPr>
        <p:txBody>
          <a:bodyPr>
            <a:normAutofit/>
          </a:bodyPr>
          <a:lstStyle/>
          <a:p>
            <a:r>
              <a:rPr kumimoji="1" lang="ja-JP" altLang="en-US" sz="5400" u="sng">
                <a:solidFill>
                  <a:srgbClr val="031C58"/>
                </a:solidFill>
                <a:latin typeface="HGPGothicE" panose="020B0900000000000000" pitchFamily="34" charset="-128"/>
                <a:ea typeface="HGPGothicE" panose="020B0900000000000000" pitchFamily="34" charset="-128"/>
              </a:rPr>
              <a:t>自主トレ指導書アプリ　トレさく</a:t>
            </a:r>
          </a:p>
        </p:txBody>
      </p:sp>
      <p:sp>
        <p:nvSpPr>
          <p:cNvPr id="10" name="角丸四角形 9">
            <a:extLst>
              <a:ext uri="{FF2B5EF4-FFF2-40B4-BE49-F238E27FC236}">
                <a16:creationId xmlns:a16="http://schemas.microsoft.com/office/drawing/2014/main" id="{CCE7C398-A1B6-81C8-B1F3-F409BDEB5087}"/>
              </a:ext>
            </a:extLst>
          </p:cNvPr>
          <p:cNvSpPr/>
          <p:nvPr/>
        </p:nvSpPr>
        <p:spPr>
          <a:xfrm>
            <a:off x="1343991" y="2099762"/>
            <a:ext cx="3600000" cy="3600000"/>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AF4C0F91-D6AA-7C48-3526-AC5E7CE0974F}"/>
              </a:ext>
            </a:extLst>
          </p:cNvPr>
          <p:cNvPicPr>
            <a:picLocks noChangeAspect="1"/>
          </p:cNvPicPr>
          <p:nvPr/>
        </p:nvPicPr>
        <p:blipFill>
          <a:blip r:embed="rId3"/>
          <a:stretch>
            <a:fillRect/>
          </a:stretch>
        </p:blipFill>
        <p:spPr>
          <a:xfrm>
            <a:off x="6064652" y="1613762"/>
            <a:ext cx="4572000" cy="4572000"/>
          </a:xfrm>
          <a:prstGeom prst="rect">
            <a:avLst/>
          </a:prstGeom>
        </p:spPr>
      </p:pic>
    </p:spTree>
    <p:extLst>
      <p:ext uri="{BB962C8B-B14F-4D97-AF65-F5344CB8AC3E}">
        <p14:creationId xmlns:p14="http://schemas.microsoft.com/office/powerpoint/2010/main" val="1766683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5A1643C-5153-121E-EFE3-A2881C8719A8}"/>
              </a:ext>
            </a:extLst>
          </p:cNvPr>
          <p:cNvPicPr>
            <a:picLocks noChangeAspect="1"/>
          </p:cNvPicPr>
          <p:nvPr/>
        </p:nvPicPr>
        <p:blipFill>
          <a:blip r:embed="rId3"/>
          <a:stretch>
            <a:fillRect/>
          </a:stretch>
        </p:blipFill>
        <p:spPr>
          <a:xfrm>
            <a:off x="-1" y="0"/>
            <a:ext cx="12198487" cy="6858000"/>
          </a:xfrm>
          <a:prstGeom prst="rect">
            <a:avLst/>
          </a:prstGeom>
        </p:spPr>
      </p:pic>
    </p:spTree>
    <p:extLst>
      <p:ext uri="{BB962C8B-B14F-4D97-AF65-F5344CB8AC3E}">
        <p14:creationId xmlns:p14="http://schemas.microsoft.com/office/powerpoint/2010/main" val="554830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236DCA8F-3ABD-E685-D900-C402F9250C62}"/>
              </a:ext>
            </a:extLst>
          </p:cNvPr>
          <p:cNvPicPr>
            <a:picLocks noChangeAspect="1"/>
          </p:cNvPicPr>
          <p:nvPr/>
        </p:nvPicPr>
        <p:blipFill>
          <a:blip r:embed="rId3"/>
          <a:stretch>
            <a:fillRect/>
          </a:stretch>
        </p:blipFill>
        <p:spPr>
          <a:xfrm>
            <a:off x="8334910" y="3928331"/>
            <a:ext cx="3857090" cy="2896819"/>
          </a:xfrm>
          <a:prstGeom prst="rect">
            <a:avLst/>
          </a:prstGeom>
        </p:spPr>
      </p:pic>
      <p:sp>
        <p:nvSpPr>
          <p:cNvPr id="2" name="テキスト ボックス 1">
            <a:extLst>
              <a:ext uri="{FF2B5EF4-FFF2-40B4-BE49-F238E27FC236}">
                <a16:creationId xmlns:a16="http://schemas.microsoft.com/office/drawing/2014/main" id="{52E302CD-3A79-7D4A-99CF-D4D5CDEEA58A}"/>
              </a:ext>
            </a:extLst>
          </p:cNvPr>
          <p:cNvSpPr txBox="1"/>
          <p:nvPr/>
        </p:nvSpPr>
        <p:spPr>
          <a:xfrm>
            <a:off x="1079291" y="1543987"/>
            <a:ext cx="7360171" cy="1107996"/>
          </a:xfrm>
          <a:prstGeom prst="rect">
            <a:avLst/>
          </a:prstGeom>
          <a:noFill/>
        </p:spPr>
        <p:txBody>
          <a:bodyPr wrap="square" rtlCol="0">
            <a:spAutoFit/>
          </a:bodyPr>
          <a:lstStyle/>
          <a:p>
            <a:r>
              <a:rPr lang="ja-JP" altLang="en-US" sz="6600">
                <a:solidFill>
                  <a:srgbClr val="031C58"/>
                </a:solidFill>
                <a:latin typeface="HGPGothicE" panose="020B0900000000000000" pitchFamily="34" charset="-128"/>
                <a:ea typeface="HGPGothicE" panose="020B0900000000000000" pitchFamily="34" charset="-128"/>
              </a:rPr>
              <a:t>まだまだ改善中</a:t>
            </a:r>
            <a:r>
              <a:rPr lang="en-US" altLang="ja-JP" sz="6600" dirty="0">
                <a:solidFill>
                  <a:srgbClr val="031C58"/>
                </a:solidFill>
                <a:latin typeface="HGPGothicE" panose="020B0900000000000000" pitchFamily="34" charset="-128"/>
                <a:ea typeface="HGPGothicE" panose="020B0900000000000000" pitchFamily="34" charset="-128"/>
              </a:rPr>
              <a:t>. . .</a:t>
            </a:r>
            <a:endParaRPr kumimoji="1" lang="ja-JP" altLang="en-US" sz="6600">
              <a:solidFill>
                <a:srgbClr val="031C58"/>
              </a:solidFill>
              <a:latin typeface="HGPGothicE" panose="020B0900000000000000" pitchFamily="34" charset="-128"/>
              <a:ea typeface="HGPGothicE" panose="020B0900000000000000" pitchFamily="34" charset="-128"/>
            </a:endParaRPr>
          </a:p>
        </p:txBody>
      </p:sp>
      <p:sp>
        <p:nvSpPr>
          <p:cNvPr id="5" name="テキスト ボックス 4">
            <a:extLst>
              <a:ext uri="{FF2B5EF4-FFF2-40B4-BE49-F238E27FC236}">
                <a16:creationId xmlns:a16="http://schemas.microsoft.com/office/drawing/2014/main" id="{9AE3189D-83EA-5AF5-A91F-0CD3A9E37F39}"/>
              </a:ext>
            </a:extLst>
          </p:cNvPr>
          <p:cNvSpPr txBox="1"/>
          <p:nvPr/>
        </p:nvSpPr>
        <p:spPr>
          <a:xfrm>
            <a:off x="2348648" y="3928331"/>
            <a:ext cx="7914807" cy="707886"/>
          </a:xfrm>
          <a:prstGeom prst="rect">
            <a:avLst/>
          </a:prstGeom>
          <a:noFill/>
        </p:spPr>
        <p:txBody>
          <a:bodyPr wrap="square" rtlCol="0">
            <a:spAutoFit/>
          </a:bodyPr>
          <a:lstStyle/>
          <a:p>
            <a:r>
              <a:rPr kumimoji="1" lang="ja-JP" altLang="en-US" sz="4000">
                <a:solidFill>
                  <a:srgbClr val="031C58"/>
                </a:solidFill>
                <a:latin typeface="HGPGothicE" panose="020B0900000000000000" pitchFamily="34" charset="-128"/>
                <a:ea typeface="HGPGothicE" panose="020B0900000000000000" pitchFamily="34" charset="-128"/>
              </a:rPr>
              <a:t>フィードバックお待ちしています</a:t>
            </a:r>
          </a:p>
        </p:txBody>
      </p:sp>
    </p:spTree>
    <p:extLst>
      <p:ext uri="{BB962C8B-B14F-4D97-AF65-F5344CB8AC3E}">
        <p14:creationId xmlns:p14="http://schemas.microsoft.com/office/powerpoint/2010/main" val="646428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A46EFACF-053B-0924-88FF-F3CA8954D3E1}"/>
              </a:ext>
            </a:extLst>
          </p:cNvPr>
          <p:cNvPicPr>
            <a:picLocks noChangeAspect="1"/>
          </p:cNvPicPr>
          <p:nvPr/>
        </p:nvPicPr>
        <p:blipFill>
          <a:blip r:embed="rId3"/>
          <a:stretch>
            <a:fillRect/>
          </a:stretch>
        </p:blipFill>
        <p:spPr>
          <a:xfrm>
            <a:off x="7294955" y="2169769"/>
            <a:ext cx="4165600" cy="4165600"/>
          </a:xfrm>
          <a:prstGeom prst="rect">
            <a:avLst/>
          </a:prstGeom>
        </p:spPr>
      </p:pic>
      <p:pic>
        <p:nvPicPr>
          <p:cNvPr id="7" name="図 6" descr="リハビリテーション・ケア合同研究大会 高知2026 あるがままに生きる ～生きるとは何か～">
            <a:extLst>
              <a:ext uri="{FF2B5EF4-FFF2-40B4-BE49-F238E27FC236}">
                <a16:creationId xmlns:a16="http://schemas.microsoft.com/office/drawing/2014/main" id="{CC80B510-844B-951C-CAD4-16724B166770}"/>
              </a:ext>
            </a:extLst>
          </p:cNvPr>
          <p:cNvPicPr>
            <a:picLocks noChangeAspect="1"/>
          </p:cNvPicPr>
          <p:nvPr/>
        </p:nvPicPr>
        <p:blipFill>
          <a:blip r:embed="rId4"/>
          <a:stretch>
            <a:fillRect/>
          </a:stretch>
        </p:blipFill>
        <p:spPr>
          <a:xfrm>
            <a:off x="5032000" y="1974719"/>
            <a:ext cx="2127998" cy="2703808"/>
          </a:xfrm>
          <a:prstGeom prst="rect">
            <a:avLst/>
          </a:prstGeom>
        </p:spPr>
      </p:pic>
      <p:sp>
        <p:nvSpPr>
          <p:cNvPr id="6" name="円/楕円 5">
            <a:extLst>
              <a:ext uri="{FF2B5EF4-FFF2-40B4-BE49-F238E27FC236}">
                <a16:creationId xmlns:a16="http://schemas.microsoft.com/office/drawing/2014/main" id="{EEA92179-25FA-1AC4-8695-5407A7AC20DC}"/>
              </a:ext>
            </a:extLst>
          </p:cNvPr>
          <p:cNvSpPr/>
          <p:nvPr/>
        </p:nvSpPr>
        <p:spPr>
          <a:xfrm>
            <a:off x="164758" y="4167007"/>
            <a:ext cx="7257738" cy="200454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CAF968BE-57F1-0D54-FCD2-EFB1D075DA3C}"/>
              </a:ext>
            </a:extLst>
          </p:cNvPr>
          <p:cNvSpPr txBox="1"/>
          <p:nvPr/>
        </p:nvSpPr>
        <p:spPr>
          <a:xfrm>
            <a:off x="2216330" y="786430"/>
            <a:ext cx="7759337" cy="769441"/>
          </a:xfrm>
          <a:prstGeom prst="rect">
            <a:avLst/>
          </a:prstGeom>
          <a:noFill/>
        </p:spPr>
        <p:txBody>
          <a:bodyPr wrap="square" rtlCol="0">
            <a:spAutoFit/>
          </a:bodyPr>
          <a:lstStyle/>
          <a:p>
            <a:r>
              <a:rPr kumimoji="1" lang="ja-JP" altLang="en-US" sz="4400">
                <a:solidFill>
                  <a:srgbClr val="031C58"/>
                </a:solidFill>
                <a:latin typeface="HGPGothicE" panose="020B0900000000000000" pitchFamily="34" charset="-128"/>
                <a:ea typeface="HGPGothicE" panose="020B0900000000000000" pitchFamily="34" charset="-128"/>
              </a:rPr>
              <a:t>ご清聴ありがとうございました。</a:t>
            </a:r>
          </a:p>
        </p:txBody>
      </p:sp>
      <p:sp>
        <p:nvSpPr>
          <p:cNvPr id="3" name="テキスト ボックス 2">
            <a:extLst>
              <a:ext uri="{FF2B5EF4-FFF2-40B4-BE49-F238E27FC236}">
                <a16:creationId xmlns:a16="http://schemas.microsoft.com/office/drawing/2014/main" id="{044785D6-50C9-FD34-FA73-BCDDDFA5B8C9}"/>
              </a:ext>
            </a:extLst>
          </p:cNvPr>
          <p:cNvSpPr txBox="1"/>
          <p:nvPr/>
        </p:nvSpPr>
        <p:spPr>
          <a:xfrm>
            <a:off x="612394" y="4366640"/>
            <a:ext cx="6810102" cy="1569660"/>
          </a:xfrm>
          <a:prstGeom prst="rect">
            <a:avLst/>
          </a:prstGeom>
          <a:noFill/>
        </p:spPr>
        <p:txBody>
          <a:bodyPr wrap="square" rtlCol="0">
            <a:spAutoFit/>
          </a:bodyPr>
          <a:lstStyle/>
          <a:p>
            <a:pPr algn="ctr"/>
            <a:r>
              <a:rPr lang="ja-JP" altLang="en-US" sz="2400">
                <a:solidFill>
                  <a:srgbClr val="031C58"/>
                </a:solidFill>
                <a:latin typeface="HGPGothicE" panose="020B0900000000000000" pitchFamily="34" charset="-128"/>
                <a:ea typeface="HGPGothicE" panose="020B0900000000000000" pitchFamily="34" charset="-128"/>
              </a:rPr>
              <a:t>リハケア学会</a:t>
            </a:r>
            <a:r>
              <a:rPr lang="en-US" altLang="ja-JP" sz="2400" dirty="0">
                <a:solidFill>
                  <a:srgbClr val="031C58"/>
                </a:solidFill>
                <a:latin typeface="HGPGothicE" panose="020B0900000000000000" pitchFamily="34" charset="-128"/>
                <a:ea typeface="HGPGothicE" panose="020B0900000000000000" pitchFamily="34" charset="-128"/>
              </a:rPr>
              <a:t>2026</a:t>
            </a:r>
            <a:r>
              <a:rPr lang="ja-JP" altLang="en-US" sz="2400">
                <a:solidFill>
                  <a:srgbClr val="031C58"/>
                </a:solidFill>
                <a:latin typeface="HGPGothicE" panose="020B0900000000000000" pitchFamily="34" charset="-128"/>
                <a:ea typeface="HGPGothicE" panose="020B0900000000000000" pitchFamily="34" charset="-128"/>
              </a:rPr>
              <a:t>高知で、</a:t>
            </a:r>
            <a:endParaRPr lang="en-US" altLang="ja-JP" sz="2400" dirty="0">
              <a:solidFill>
                <a:srgbClr val="031C58"/>
              </a:solidFill>
              <a:latin typeface="HGPGothicE" panose="020B0900000000000000" pitchFamily="34" charset="-128"/>
              <a:ea typeface="HGPGothicE" panose="020B0900000000000000" pitchFamily="34" charset="-128"/>
            </a:endParaRPr>
          </a:p>
          <a:p>
            <a:pPr algn="ctr"/>
            <a:r>
              <a:rPr kumimoji="1" lang="ja-JP" altLang="en-US" sz="2400">
                <a:solidFill>
                  <a:srgbClr val="031C58"/>
                </a:solidFill>
                <a:latin typeface="HGPGothicE" panose="020B0900000000000000" pitchFamily="34" charset="-128"/>
                <a:ea typeface="HGPGothicE" panose="020B0900000000000000" pitchFamily="34" charset="-128"/>
              </a:rPr>
              <a:t>自主トレに関して</a:t>
            </a:r>
            <a:r>
              <a:rPr lang="ja-JP" altLang="en-US" sz="2400">
                <a:solidFill>
                  <a:srgbClr val="031C58"/>
                </a:solidFill>
                <a:latin typeface="HGPGothicE" panose="020B0900000000000000" pitchFamily="34" charset="-128"/>
                <a:ea typeface="HGPGothicE" panose="020B0900000000000000" pitchFamily="34" charset="-128"/>
              </a:rPr>
              <a:t>の発表を行いたいと思っています</a:t>
            </a:r>
            <a:r>
              <a:rPr lang="ja-JP" altLang="en-US" sz="2400">
                <a:solidFill>
                  <a:srgbClr val="031C58"/>
                </a:solidFill>
              </a:rPr>
              <a:t>。</a:t>
            </a:r>
            <a:endParaRPr lang="en-US" altLang="ja-JP" sz="2400" dirty="0">
              <a:solidFill>
                <a:srgbClr val="031C58"/>
              </a:solidFill>
            </a:endParaRPr>
          </a:p>
          <a:p>
            <a:pPr algn="ctr"/>
            <a:br>
              <a:rPr kumimoji="1" lang="en-US" altLang="ja-JP" sz="2400" dirty="0">
                <a:solidFill>
                  <a:srgbClr val="031C58"/>
                </a:solidFill>
              </a:rPr>
            </a:br>
            <a:r>
              <a:rPr kumimoji="1" lang="ja-JP" altLang="en-US" sz="2400">
                <a:solidFill>
                  <a:srgbClr val="031C58"/>
                </a:solidFill>
                <a:latin typeface="HGPGothicE" panose="020B0900000000000000" pitchFamily="34" charset="-128"/>
                <a:ea typeface="HGPGothicE" panose="020B0900000000000000" pitchFamily="34" charset="-128"/>
              </a:rPr>
              <a:t>アンケートの回答にご協力ください。</a:t>
            </a:r>
          </a:p>
        </p:txBody>
      </p:sp>
    </p:spTree>
    <p:extLst>
      <p:ext uri="{BB962C8B-B14F-4D97-AF65-F5344CB8AC3E}">
        <p14:creationId xmlns:p14="http://schemas.microsoft.com/office/powerpoint/2010/main" val="66316018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1259</TotalTime>
  <Words>802</Words>
  <Application>Microsoft Macintosh PowerPoint</Application>
  <PresentationFormat>ワイド画面</PresentationFormat>
  <Paragraphs>105</Paragraphs>
  <Slides>11</Slides>
  <Notes>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HGPGothicE</vt:lpstr>
      <vt:lpstr>游ゴシック</vt:lpstr>
      <vt:lpstr>游ゴシック Light</vt:lpstr>
      <vt:lpstr>Arial</vt:lpstr>
      <vt:lpstr>Office テーマ</vt:lpstr>
      <vt:lpstr>自主トレが変える、患者さんの １４ 時間</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自主トレ指導書アプリ　トレさく</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竜成 佐藤</dc:creator>
  <cp:lastModifiedBy>竜成 佐藤</cp:lastModifiedBy>
  <cp:revision>11</cp:revision>
  <cp:lastPrinted>2026-04-29T13:06:57Z</cp:lastPrinted>
  <dcterms:created xsi:type="dcterms:W3CDTF">2026-04-27T09:56:35Z</dcterms:created>
  <dcterms:modified xsi:type="dcterms:W3CDTF">2026-05-18T12:50:35Z</dcterms:modified>
</cp:coreProperties>
</file>