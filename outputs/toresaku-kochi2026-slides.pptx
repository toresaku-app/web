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37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94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本演題では、自主トレ指導書作成アプリ『トレさく』を院内勉強会で試用し、作成上の課題と使用感を予備的に評価した結果をご報告します。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利益相反についてです。筆頭演者はトレさくの開発者です。その他に開示すべき利益相反はありません。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まず、普段どのように指導書を作成しているかを尋ねました。Office系ソフトが52.4%で最多でした。専用アプリの利用は1名にとどまり、多くのスタッフが汎用的な手段で作成していました。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対象は院内勉強会に参加したPT、OT、STの21名です。開始時に現状と課題を調査し、説明後に10分間で指導書を1件作成してもらいました。その直後に使用感と今後の使用意向を調査しました。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トレさくでは、収録された運動を選び、回数やセット数、注意点を患者に合わせて調整し、A4の指導書としてPDF出力します。操作は端末内で完結し、患者には印刷した指導書を渡す運用を想定しています。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開始時の課題感は、5項目すべてで66.7%以上でした。特にイラストや図解の質・見やすさは90.5%、作成時間と個別調整はそれぞれ81%が課題と回答しました。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10分間の演習では、17名、81%が指導書を完成しました。使用感については、5項目すべてで85.7%以上が肯定的に回答し、作成時間短縮と必要な運動を見つけられたという項目は100%でした。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今後の使用意向は、ぜひ使いたいが61.9%、機会があれば使いたいが38.1%で、参加者全員が肯定的でした。ただし、これは演習直後の意向であり、継続利用や実際の業務時間を示すものではありません。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の結果から、トレさくは短時間で指導書を作成でき、作成者から使いやすいと評価される可能性が示されました。一方、単施設21名、対照群なし、開発者主催の演習直後評価です。患者の理解や運動継続、臨床効果は評価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以上より、トレさくは紙の自主トレ指導書を短時間で作る選択肢として、実用可能性を示しました。今後は多施設の実業務で、継続利用と作成時間を検証します。ご清聴ありがとうございました。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7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4869"/>
            <a:ext cx="740726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リハビリテーション・ケア合同研究大会 高知2026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9955262" y="800100"/>
            <a:ext cx="2284437" cy="523875"/>
          </a:xfrm>
          <a:prstGeom prst="roundRect">
            <a:avLst>
              <a:gd name="adj" fmla="val 10909"/>
            </a:avLst>
          </a:prstGeom>
          <a:ln w="1905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183862" y="895350"/>
            <a:ext cx="19034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演題番号 P07-5-1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92099" y="800100"/>
            <a:ext cx="4848151" cy="523875"/>
          </a:xfrm>
          <a:prstGeom prst="roundRect">
            <a:avLst>
              <a:gd name="adj" fmla="val 10909"/>
            </a:avLst>
          </a:prstGeom>
          <a:ln w="1905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2620699" y="895350"/>
            <a:ext cx="45363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DX（デジタルトランスフォーメーション）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3857625"/>
            <a:ext cx="2286000" cy="2286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0625" y="4000500"/>
            <a:ext cx="2000250" cy="2000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19550" y="4153259"/>
            <a:ext cx="771610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57" dirty="0">
                <a:solidFill>
                  <a:srgbClr val="C5D7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自主トレ指導書作成アプリ『トレさく』の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4019550" y="4772384"/>
            <a:ext cx="9980229" cy="942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200"/>
              </a:lnSpc>
              <a:buNone/>
            </a:pPr>
            <a:r>
              <a:rPr lang="en-US" sz="5700" b="1" kern="0" spc="57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開発と使用感の 予備的評価</a:t>
            </a:r>
            <a:endParaRPr lang="en-US" sz="5700" dirty="0"/>
          </a:p>
        </p:txBody>
      </p:sp>
      <p:sp>
        <p:nvSpPr>
          <p:cNvPr id="11" name="Text 8"/>
          <p:cNvSpPr/>
          <p:nvPr/>
        </p:nvSpPr>
        <p:spPr>
          <a:xfrm>
            <a:off x="1047750" y="8677275"/>
            <a:ext cx="5761264" cy="614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佐藤 竜成</a:t>
            </a:r>
            <a:r>
              <a:rPr lang="ja-JP" altLang="en-US" sz="315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藤田</a:t>
            </a:r>
            <a:r>
              <a:rPr lang="en-US" altLang="ja-JP" sz="3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ja-JP" altLang="en-US" sz="315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淳　大町勇都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1047750" y="9329738"/>
            <a:ext cx="76063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社会福祉法人 </a:t>
            </a:r>
            <a:r>
              <a:rPr lang="en-US" sz="2100" dirty="0" err="1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東京有隣会</a:t>
            </a: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100" dirty="0" err="1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有隣病院</a:t>
            </a:r>
            <a:r>
              <a:rPr lang="ja-JP" altLang="en-US" sz="210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リハビリテーション室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CONFLICT OF INTEREST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利益相反（COI）の開示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3059609" y="3564210"/>
            <a:ext cx="12168783" cy="4329113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966070" y="4411935"/>
            <a:ext cx="1035586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126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筆頭演者は、本アプリ『トレさく』の</a:t>
            </a:r>
            <a:r>
              <a:rPr lang="en-US" sz="33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開発者</a:t>
            </a:r>
            <a:r>
              <a:rPr lang="en-US" sz="3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である。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966070" y="5354910"/>
            <a:ext cx="103558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その他に開示すべき利益相反はない。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116884" y="6374085"/>
            <a:ext cx="10054233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966070" y="6688410"/>
            <a:ext cx="1035586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開示基準：抄録提出日を基準として過去1年間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BACKGROUND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指導書作成は、いまもOffice系ソフトが中心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570783"/>
            <a:ext cx="5562600" cy="646844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457325" y="3503945"/>
            <a:ext cx="51530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汎用ソフトで</a:t>
            </a:r>
            <a:endParaRPr lang="en-US" sz="2100" b="1" dirty="0">
              <a:solidFill>
                <a:srgbClr val="626264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en-US" sz="2100" b="1" dirty="0" err="1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毎回、資料を組み立てている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90675" y="4827761"/>
            <a:ext cx="49244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966"/>
              </a:lnSpc>
              <a:buNone/>
            </a:pPr>
            <a:r>
              <a:rPr lang="en-US" sz="105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52.4</a:t>
            </a:r>
            <a:r>
              <a:rPr lang="en-US" sz="48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1590675" y="6313661"/>
            <a:ext cx="49244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21名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590675" y="7094711"/>
            <a:ext cx="4476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590675" y="7370936"/>
            <a:ext cx="4611052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6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専用アプリの利用は</a:t>
            </a:r>
            <a:r>
              <a:rPr lang="en-US" sz="2025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1名（4.8%）</a:t>
            </a:r>
            <a:r>
              <a:rPr lang="en-US" sz="202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のみ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991350" y="2570783"/>
            <a:ext cx="10248900" cy="6468442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534275" y="2999408"/>
            <a:ext cx="1007935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現在の指導書の作成方法（構成比、％）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534275" y="3470895"/>
            <a:ext cx="10079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勉強会開始時アンケートA・n=21・単一回答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19950" y="4661967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Office系ソフト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925175" y="4635773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0925175" y="4635773"/>
            <a:ext cx="2295897" cy="438150"/>
          </a:xfrm>
          <a:prstGeom prst="roundRect">
            <a:avLst>
              <a:gd name="adj" fmla="val 8696"/>
            </a:avLst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5554325" y="4635773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52.4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19950" y="5385867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手書き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925175" y="5359673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0925175" y="5359673"/>
            <a:ext cx="832470" cy="438150"/>
          </a:xfrm>
          <a:prstGeom prst="roundRect">
            <a:avLst>
              <a:gd name="adj" fmla="val 8696"/>
            </a:avLst>
          </a:prstGeom>
          <a:solidFill>
            <a:srgbClr val="C5D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5554325" y="5359673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19.0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19950" y="6109767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既存資料・テンプレート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925175" y="6083573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0925175" y="6083573"/>
            <a:ext cx="832470" cy="438150"/>
          </a:xfrm>
          <a:prstGeom prst="roundRect">
            <a:avLst>
              <a:gd name="adj" fmla="val 8696"/>
            </a:avLst>
          </a:prstGeom>
          <a:solidFill>
            <a:srgbClr val="C5D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5554325" y="6083573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19.0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19950" y="6833667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専用アプリ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25175" y="6807473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0925175" y="6807473"/>
            <a:ext cx="210294" cy="438150"/>
          </a:xfrm>
          <a:prstGeom prst="roundRect">
            <a:avLst>
              <a:gd name="adj" fmla="val 18117"/>
            </a:avLst>
          </a:prstGeom>
          <a:solidFill>
            <a:srgbClr val="C5D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5554325" y="6807473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4.8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19950" y="7557567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口頭のみ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925175" y="7531373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0925175" y="7531373"/>
            <a:ext cx="210294" cy="438150"/>
          </a:xfrm>
          <a:prstGeom prst="roundRect">
            <a:avLst>
              <a:gd name="adj" fmla="val 18117"/>
            </a:avLst>
          </a:prstGeom>
          <a:solidFill>
            <a:srgbClr val="C5D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5554325" y="7531373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4.8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47750" y="9382125"/>
            <a:ext cx="96634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出典：勉強会開始時アンケートA（2026年5月18日・22日実施、n=21、回答率100%）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METHODS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勉強会の前後で、課題感と使用感を調査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4323383"/>
            <a:ext cx="161925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47750" y="2570783"/>
            <a:ext cx="161925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47750" y="2827958"/>
            <a:ext cx="38100" cy="1247775"/>
          </a:xfrm>
          <a:prstGeom prst="rect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428750" y="28279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750" y="3256583"/>
            <a:ext cx="36566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PT・OT・ST 21名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28750" y="37423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院内勉強会の参加者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5875" y="2827958"/>
            <a:ext cx="38100" cy="1247775"/>
          </a:xfrm>
          <a:prstGeom prst="rect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76875" y="28279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76875" y="3256583"/>
            <a:ext cx="36566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2026年5月18日・22日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476875" y="37423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2回開催・同一内容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0" y="2827958"/>
            <a:ext cx="38100" cy="1247775"/>
          </a:xfrm>
          <a:prstGeom prst="rect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525000" y="28279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回答方法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0" y="3256583"/>
            <a:ext cx="36566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Googleフォーム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0" y="37423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回答率 100%（21/21）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192125" y="2827958"/>
            <a:ext cx="38100" cy="1247775"/>
          </a:xfrm>
          <a:prstGeom prst="rect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3573125" y="28279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評価基準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573125" y="3256583"/>
            <a:ext cx="36566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5段階評価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573125" y="3742358"/>
            <a:ext cx="36566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「4以上」を肯定的回答と定義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5583064"/>
            <a:ext cx="3571875" cy="2434530"/>
          </a:xfrm>
          <a:prstGeom prst="roundRect">
            <a:avLst>
              <a:gd name="adj" fmla="val 4695"/>
            </a:avLst>
          </a:prstGeom>
          <a:solidFill>
            <a:srgbClr val="E8F1FE"/>
          </a:solidFill>
          <a:ln w="19050">
            <a:solidFill>
              <a:srgbClr val="0017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390650" y="5906914"/>
            <a:ext cx="457200" cy="457200"/>
          </a:xfrm>
          <a:prstGeom prst="ellipse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352550" y="590691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000250" y="5916439"/>
            <a:ext cx="188431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アンケートA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90650" y="6516514"/>
            <a:ext cx="31746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開始時・調査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90650" y="6926089"/>
            <a:ext cx="2972657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467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現在の作成方法と課題感を調査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752975" y="6524104"/>
            <a:ext cx="4457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5267325" y="5592589"/>
            <a:ext cx="3552825" cy="2415480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5600700" y="5906914"/>
            <a:ext cx="457200" cy="457200"/>
          </a:xfrm>
          <a:prstGeom prst="ellipse">
            <a:avLst/>
          </a:prstGeom>
          <a:solidFill>
            <a:srgbClr val="6262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5562600" y="590691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210300" y="5916439"/>
            <a:ext cx="16764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アプリ説明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600700" y="6516514"/>
            <a:ext cx="31746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600700" y="6926089"/>
            <a:ext cx="2972657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467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『</a:t>
            </a:r>
            <a:r>
              <a:rPr lang="en-US" sz="1950" dirty="0" err="1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トレさく』の概要と</a:t>
            </a:r>
            <a:endParaRPr lang="en-US" sz="1950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lnSpc>
                <a:spcPct val="107467"/>
              </a:lnSpc>
              <a:buNone/>
            </a:pPr>
            <a:r>
              <a:rPr lang="en-US" sz="1950" dirty="0" err="1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操作方法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8953500" y="6524104"/>
            <a:ext cx="4457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9467850" y="5602114"/>
            <a:ext cx="3552825" cy="2415479"/>
          </a:xfrm>
          <a:prstGeom prst="roundRect">
            <a:avLst>
              <a:gd name="adj" fmla="val 5626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9820275" y="5906914"/>
            <a:ext cx="457200" cy="457200"/>
          </a:xfrm>
          <a:prstGeom prst="ellipse">
            <a:avLst/>
          </a:prstGeom>
          <a:solidFill>
            <a:srgbClr val="6262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9763125" y="588927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0410825" y="5897389"/>
            <a:ext cx="208477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演習（10分）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801225" y="6516513"/>
            <a:ext cx="31746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介入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801225" y="6926089"/>
            <a:ext cx="317468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467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各自が指導書を1件作成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3154025" y="6524104"/>
            <a:ext cx="4457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13668375" y="5583064"/>
            <a:ext cx="3571875" cy="2434530"/>
          </a:xfrm>
          <a:prstGeom prst="roundRect">
            <a:avLst>
              <a:gd name="adj" fmla="val 4695"/>
            </a:avLst>
          </a:prstGeom>
          <a:solidFill>
            <a:srgbClr val="E8F1FE"/>
          </a:solidFill>
          <a:ln w="19050">
            <a:solidFill>
              <a:srgbClr val="0017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14011275" y="5906914"/>
            <a:ext cx="457200" cy="457200"/>
          </a:xfrm>
          <a:prstGeom prst="ellipse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13973175" y="590691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4620875" y="5916439"/>
            <a:ext cx="189601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アンケートB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4011275" y="6516514"/>
            <a:ext cx="31746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終了時・調査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4011275" y="6926089"/>
            <a:ext cx="2972657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467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使用感と今後の使用意向を調査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047750" y="9382125"/>
            <a:ext cx="4834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出典：研究実施記録およびアンケートA・B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INTERVENTION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 err="1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選ぶ・調整する・出力する</a:t>
            </a: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—3段階で指導書を作成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668" y="2256852"/>
            <a:ext cx="457200" cy="457200"/>
          </a:xfrm>
          <a:prstGeom prst="ellipse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9568" y="225685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57268" y="2266377"/>
            <a:ext cx="16764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運動を選ぶ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668" y="2809302"/>
            <a:ext cx="56857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部位・姿勢・筋で絞り込んで選択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6559443" y="2256852"/>
            <a:ext cx="457200" cy="457200"/>
          </a:xfrm>
          <a:prstGeom prst="ellipse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521343" y="225685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169043" y="2266377"/>
            <a:ext cx="30175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回数・注意点を調整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59443" y="2809302"/>
            <a:ext cx="56857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回数・セット・頻度を患者に合わせる</a:t>
            </a:r>
            <a:endParaRPr lang="en-US" sz="1875" dirty="0"/>
          </a:p>
        </p:txBody>
      </p:sp>
      <p:sp>
        <p:nvSpPr>
          <p:cNvPr id="16" name="Shape 12"/>
          <p:cNvSpPr/>
          <p:nvPr/>
        </p:nvSpPr>
        <p:spPr>
          <a:xfrm>
            <a:off x="12071218" y="2256852"/>
            <a:ext cx="457200" cy="457200"/>
          </a:xfrm>
          <a:prstGeom prst="ellipse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/>
          <p:nvPr/>
        </p:nvSpPr>
        <p:spPr>
          <a:xfrm>
            <a:off x="12033118" y="225685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4"/>
          <p:cNvSpPr/>
          <p:nvPr/>
        </p:nvSpPr>
        <p:spPr>
          <a:xfrm>
            <a:off x="12680818" y="2266377"/>
            <a:ext cx="235367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PDF出力・印刷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2071218" y="2803224"/>
            <a:ext cx="56858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イラスト付きA4指導書を患者に渡す</a:t>
            </a:r>
            <a:endParaRPr lang="en-US" sz="1875" dirty="0"/>
          </a:p>
        </p:txBody>
      </p:sp>
      <p:sp>
        <p:nvSpPr>
          <p:cNvPr id="20" name="Shape 16"/>
          <p:cNvSpPr/>
          <p:nvPr/>
        </p:nvSpPr>
        <p:spPr>
          <a:xfrm>
            <a:off x="13413581" y="3561383"/>
            <a:ext cx="2484388" cy="5353050"/>
          </a:xfrm>
          <a:prstGeom prst="roundRect">
            <a:avLst>
              <a:gd name="adj" fmla="val 5368"/>
            </a:avLst>
          </a:prstGeom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15897969" y="9519736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P07-5-1｜05</a:t>
            </a:r>
            <a:endParaRPr lang="en-US" sz="1800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FB9CB99A-B07B-5C7E-3E3F-6DAC7CE8E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043" y="3256977"/>
            <a:ext cx="3069982" cy="6643754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00D2273-7770-163E-2141-36056B3E2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218" y="3441793"/>
            <a:ext cx="4240943" cy="5996430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A69DC3C7-D315-248E-6784-6CE71CC4D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926" y="3366362"/>
            <a:ext cx="3069983" cy="6643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RESULTS 1｜開始時の課題感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5つの作成課題すべてで、3人に2人以上が困っていた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570783"/>
            <a:ext cx="5562600" cy="646844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590674" y="3521868"/>
            <a:ext cx="46110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 err="1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最大の課題</a:t>
            </a:r>
            <a:r>
              <a:rPr lang="en-US" sz="21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</a:p>
          <a:p>
            <a:pPr marL="0" indent="0" algn="l">
              <a:buNone/>
            </a:pPr>
            <a:r>
              <a:rPr lang="en-US" sz="2100" b="1" dirty="0" err="1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イラスト・図解の質や見やすさ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90675" y="4622006"/>
            <a:ext cx="49244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966"/>
              </a:lnSpc>
              <a:buNone/>
            </a:pPr>
            <a:r>
              <a:rPr lang="en-US" sz="105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90.5</a:t>
            </a:r>
            <a:r>
              <a:rPr lang="en-US" sz="48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1590675" y="6107906"/>
            <a:ext cx="49244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21名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590675" y="6888956"/>
            <a:ext cx="4476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590674" y="7165181"/>
            <a:ext cx="47780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6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5項目すべてが</a:t>
            </a:r>
            <a:r>
              <a:rPr lang="en-US" sz="2025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66.7%以上 </a:t>
            </a:r>
            <a:r>
              <a:rPr lang="en-US" sz="202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（3人に2人）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991350" y="2570783"/>
            <a:ext cx="10248900" cy="6468442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534275" y="2999408"/>
            <a:ext cx="681643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作成上の課題を感じる人の割合（％）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534275" y="3470895"/>
            <a:ext cx="67009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勉強会開始時アンケートA・n=21・5段階評価の「4・5」の合計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59632" y="3066083"/>
            <a:ext cx="3011463" cy="3714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破線：66.7%（3人に2人）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19950" y="4828654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イラスト・図解の質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925175" y="4802460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0925175" y="4802460"/>
            <a:ext cx="3965228" cy="438150"/>
          </a:xfrm>
          <a:prstGeom prst="roundRect">
            <a:avLst>
              <a:gd name="adj" fmla="val 8696"/>
            </a:avLst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3847564" y="4735785"/>
            <a:ext cx="28575" cy="571500"/>
          </a:xfrm>
          <a:prstGeom prst="rect">
            <a:avLst/>
          </a:prstGeom>
          <a:solidFill>
            <a:srgbClr val="76767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5554325" y="4802460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90.5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19950" y="5552554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925175" y="5526360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0925175" y="5526360"/>
            <a:ext cx="3548955" cy="438150"/>
          </a:xfrm>
          <a:prstGeom prst="roundRect">
            <a:avLst>
              <a:gd name="adj" fmla="val 8696"/>
            </a:avLst>
          </a:prstGeom>
          <a:solidFill>
            <a:srgbClr val="7096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3847564" y="5459685"/>
            <a:ext cx="28575" cy="571500"/>
          </a:xfrm>
          <a:prstGeom prst="rect">
            <a:avLst/>
          </a:prstGeom>
          <a:solidFill>
            <a:srgbClr val="76767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15554325" y="5526360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81.0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19950" y="6276454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患者ごとの個別調整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925175" y="6250260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25175" y="6250260"/>
            <a:ext cx="3548955" cy="438150"/>
          </a:xfrm>
          <a:prstGeom prst="roundRect">
            <a:avLst>
              <a:gd name="adj" fmla="val 8696"/>
            </a:avLst>
          </a:prstGeom>
          <a:solidFill>
            <a:srgbClr val="7096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3847564" y="6183585"/>
            <a:ext cx="28575" cy="571500"/>
          </a:xfrm>
          <a:prstGeom prst="rect">
            <a:avLst/>
          </a:prstGeom>
          <a:solidFill>
            <a:srgbClr val="76767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5554325" y="6250260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81.0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19950" y="7000354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理解・継続への自信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925175" y="6974160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0925175" y="6974160"/>
            <a:ext cx="3338661" cy="438150"/>
          </a:xfrm>
          <a:prstGeom prst="roundRect">
            <a:avLst>
              <a:gd name="adj" fmla="val 8696"/>
            </a:avLst>
          </a:prstGeom>
          <a:solidFill>
            <a:srgbClr val="7096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13847564" y="6907485"/>
            <a:ext cx="28575" cy="571500"/>
          </a:xfrm>
          <a:prstGeom prst="rect">
            <a:avLst/>
          </a:prstGeom>
          <a:solidFill>
            <a:srgbClr val="76767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5554325" y="6974160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76.2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219950" y="7724254"/>
            <a:ext cx="34575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運動の選択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0925175" y="7698060"/>
            <a:ext cx="438150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10925175" y="7698060"/>
            <a:ext cx="2922389" cy="438150"/>
          </a:xfrm>
          <a:prstGeom prst="roundRect">
            <a:avLst>
              <a:gd name="adj" fmla="val 8696"/>
            </a:avLst>
          </a:prstGeom>
          <a:solidFill>
            <a:srgbClr val="7096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13847564" y="7631385"/>
            <a:ext cx="28575" cy="571500"/>
          </a:xfrm>
          <a:prstGeom prst="rect">
            <a:avLst/>
          </a:prstGeom>
          <a:solidFill>
            <a:srgbClr val="76767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5554325" y="7698060"/>
            <a:ext cx="1219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66.7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047750" y="9382125"/>
            <a:ext cx="85521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出典：勉強会開始時アンケートA（n=21）。各項目は5段階評価の4・5を集計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RESULTS 2｜演習後の使用感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10分の演習で81%が完成し、使用感5項目すべてが高評価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570783"/>
            <a:ext cx="6419850" cy="6468442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590675" y="2999408"/>
            <a:ext cx="58674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10分間の演習での完成率（％）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90675" y="3470895"/>
            <a:ext cx="5867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演習後アンケートB・n=21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5400000">
            <a:off x="2686050" y="4457179"/>
            <a:ext cx="3143250" cy="3143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04403" y="5537193"/>
            <a:ext cx="18324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69189"/>
              </a:lnSpc>
              <a:buNone/>
            </a:pPr>
            <a:r>
              <a:rPr lang="en-US" sz="48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81.0</a:t>
            </a:r>
            <a:r>
              <a:rPr lang="en-US" sz="27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739455" y="6061249"/>
            <a:ext cx="10363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21名 が完成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29111" y="8327231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2833911" y="8253412"/>
            <a:ext cx="114962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 17名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4250234" y="8327231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555034" y="8253412"/>
            <a:ext cx="157424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途中まで 4名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7848600" y="2570783"/>
            <a:ext cx="9391650" cy="6468442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8391525" y="2999408"/>
            <a:ext cx="91363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使用感の肯定的回答の割合（％）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8391525" y="3470895"/>
            <a:ext cx="91363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演習後アンケートB・n=21・5段階評価の「4・5」の合計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067675" y="4661967"/>
            <a:ext cx="35623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作成時間の短縮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1877675" y="4635773"/>
            <a:ext cx="333375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11877675" y="4635773"/>
            <a:ext cx="3333750" cy="438150"/>
          </a:xfrm>
          <a:prstGeom prst="roundRect">
            <a:avLst>
              <a:gd name="adj" fmla="val 8696"/>
            </a:avLst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15459075" y="4635773"/>
            <a:ext cx="13620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100.0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067675" y="5385867"/>
            <a:ext cx="35623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必要な運動を見つけられた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1877675" y="5359673"/>
            <a:ext cx="333375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0"/>
          <p:cNvSpPr/>
          <p:nvPr/>
        </p:nvSpPr>
        <p:spPr>
          <a:xfrm>
            <a:off x="11877675" y="5359673"/>
            <a:ext cx="3333750" cy="438150"/>
          </a:xfrm>
          <a:prstGeom prst="roundRect">
            <a:avLst>
              <a:gd name="adj" fmla="val 8696"/>
            </a:avLst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15459075" y="5359673"/>
            <a:ext cx="13620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100.0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067675" y="6109767"/>
            <a:ext cx="35623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理解・継続のしやすさ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1877675" y="6083573"/>
            <a:ext cx="333375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4"/>
          <p:cNvSpPr/>
          <p:nvPr/>
        </p:nvSpPr>
        <p:spPr>
          <a:xfrm>
            <a:off x="11877675" y="6083573"/>
            <a:ext cx="3173685" cy="438150"/>
          </a:xfrm>
          <a:prstGeom prst="roundRect">
            <a:avLst>
              <a:gd name="adj" fmla="val 8696"/>
            </a:avLst>
          </a:prstGeom>
          <a:solidFill>
            <a:srgbClr val="7096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15459075" y="6083573"/>
            <a:ext cx="13620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95.2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8067675" y="6833667"/>
            <a:ext cx="35623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患者ごとの個別調整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1877675" y="6807473"/>
            <a:ext cx="333375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8"/>
          <p:cNvSpPr/>
          <p:nvPr/>
        </p:nvSpPr>
        <p:spPr>
          <a:xfrm>
            <a:off x="11877675" y="6807473"/>
            <a:ext cx="3173685" cy="438150"/>
          </a:xfrm>
          <a:prstGeom prst="roundRect">
            <a:avLst>
              <a:gd name="adj" fmla="val 8696"/>
            </a:avLst>
          </a:prstGeom>
          <a:solidFill>
            <a:srgbClr val="7096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9"/>
          <p:cNvSpPr/>
          <p:nvPr/>
        </p:nvSpPr>
        <p:spPr>
          <a:xfrm>
            <a:off x="15459075" y="6807473"/>
            <a:ext cx="13620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95.2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8067675" y="7557567"/>
            <a:ext cx="35623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図解の見やすさ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11877675" y="7531373"/>
            <a:ext cx="3333750" cy="438150"/>
          </a:xfrm>
          <a:prstGeom prst="roundRect">
            <a:avLst>
              <a:gd name="adj" fmla="val 8696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2"/>
          <p:cNvSpPr/>
          <p:nvPr/>
        </p:nvSpPr>
        <p:spPr>
          <a:xfrm>
            <a:off x="11877675" y="7531373"/>
            <a:ext cx="2856979" cy="438150"/>
          </a:xfrm>
          <a:prstGeom prst="roundRect">
            <a:avLst>
              <a:gd name="adj" fmla="val 8696"/>
            </a:avLst>
          </a:prstGeom>
          <a:solidFill>
            <a:srgbClr val="7096F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3"/>
          <p:cNvSpPr/>
          <p:nvPr/>
        </p:nvSpPr>
        <p:spPr>
          <a:xfrm>
            <a:off x="15459075" y="7531373"/>
            <a:ext cx="13620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85.7</a:t>
            </a: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1047750" y="9382125"/>
            <a:ext cx="88437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出典：10分間の演習後アンケートB（n=21）。各項目は5段階評価の4・5を集計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RESULTS 3｜今後の使用意向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参加者全員が、今後の業務で使う意向を示した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570783"/>
            <a:ext cx="5562600" cy="646844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590675" y="4488135"/>
            <a:ext cx="49244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「使いたい」と回答した参加者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90675" y="5102498"/>
            <a:ext cx="492442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124"/>
              </a:lnSpc>
              <a:buNone/>
            </a:pPr>
            <a:r>
              <a:rPr lang="en-US" sz="1125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</a:t>
            </a:r>
            <a:r>
              <a:rPr lang="en-US" sz="48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1590675" y="6683648"/>
            <a:ext cx="49244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 / 21名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991350" y="3240881"/>
            <a:ext cx="10248900" cy="34671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534275" y="3669506"/>
            <a:ext cx="1007935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今後の使用意向の内訳（％）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34275" y="4140994"/>
            <a:ext cx="10079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演習後アンケートB・n=21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34275" y="4779169"/>
            <a:ext cx="5671914" cy="876300"/>
          </a:xfrm>
          <a:prstGeom prst="rect">
            <a:avLst/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449196" y="4779169"/>
            <a:ext cx="584207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61.9%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206189" y="4779169"/>
            <a:ext cx="3491061" cy="876300"/>
          </a:xfrm>
          <a:prstGeom prst="rect">
            <a:avLst/>
          </a:prstGeom>
          <a:solidFill>
            <a:srgbClr val="C5D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3153823" y="4779169"/>
            <a:ext cx="359579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38.1%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7534275" y="598646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017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839075" y="5903119"/>
            <a:ext cx="373400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ぜひ使いたい 13名（61.9%）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1652721" y="598646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C5D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1957521" y="5903119"/>
            <a:ext cx="470849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機会があれば使いたい 8名（38.1%）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6986588" y="7012779"/>
            <a:ext cx="10248900" cy="1356271"/>
          </a:xfrm>
          <a:prstGeom prst="roundRect">
            <a:avLst>
              <a:gd name="adj" fmla="val 8428"/>
            </a:avLst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100888" y="7159896"/>
            <a:ext cx="533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留意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49196" y="7531371"/>
            <a:ext cx="9601200" cy="45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6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本結果は演習直後の「使用意向」であり、継続利用や業務時間の実測値ではない。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047750" y="9382125"/>
            <a:ext cx="50301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出典：10分間の演習後アンケートB（n=21）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INTERPRETATION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357313"/>
            <a:ext cx="17811750" cy="75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762"/>
              </a:lnSpc>
              <a:buNone/>
            </a:pPr>
            <a:r>
              <a:rPr lang="en-US" sz="4350" b="1" dirty="0" err="1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示されたのは「使いやすさの可能性</a:t>
            </a:r>
            <a:r>
              <a:rPr lang="en-US" sz="4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」—臨床効果は未評価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570783"/>
            <a:ext cx="7905750" cy="6468442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590675" y="3037508"/>
            <a:ext cx="75018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17C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今回の結果が示すこと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90675" y="3704258"/>
            <a:ext cx="68199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590675" y="4876279"/>
            <a:ext cx="419100" cy="419100"/>
          </a:xfrm>
          <a:prstGeom prst="ellipse">
            <a:avLst/>
          </a:prstGeom>
          <a:solidFill>
            <a:srgbClr val="E6F5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552575" y="487627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97A4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219325" y="4876279"/>
            <a:ext cx="542996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97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10分間の演習で、</a:t>
            </a: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81%が指導書を完成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590675" y="5700192"/>
            <a:ext cx="419100" cy="419100"/>
          </a:xfrm>
          <a:prstGeom prst="ellipse">
            <a:avLst/>
          </a:prstGeom>
          <a:solidFill>
            <a:srgbClr val="E6F5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552575" y="57001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97A4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19325" y="5700192"/>
            <a:ext cx="63769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97"/>
              </a:lnSpc>
              <a:buNone/>
            </a:pPr>
            <a:r>
              <a:rPr lang="en-US" sz="2250" dirty="0" err="1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作成時間の短縮と運動の見つけやすさは</a:t>
            </a:r>
            <a:endParaRPr lang="en-US" sz="2250" dirty="0">
              <a:solidFill>
                <a:srgbClr val="1A1A1A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lnSpc>
                <a:spcPct val="106897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100%が肯定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590675" y="6967017"/>
            <a:ext cx="419100" cy="419100"/>
          </a:xfrm>
          <a:prstGeom prst="ellipse">
            <a:avLst/>
          </a:prstGeom>
          <a:solidFill>
            <a:srgbClr val="E6F5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552575" y="696701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97A4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219325" y="6967017"/>
            <a:ext cx="534352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897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</a:t>
            </a:r>
            <a:r>
              <a:rPr lang="en-US" sz="2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全員が今後の使用意向</a:t>
            </a:r>
            <a:r>
              <a:rPr lang="en-US" sz="22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を示した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0" y="2570783"/>
            <a:ext cx="7905750" cy="6468442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877425" y="3037508"/>
            <a:ext cx="75018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解釈に必要な4つの限界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877425" y="3704258"/>
            <a:ext cx="68199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877425" y="4876279"/>
            <a:ext cx="419100" cy="419100"/>
          </a:xfrm>
          <a:prstGeom prst="ellipse">
            <a:avLst/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839325" y="487627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06075" y="4876279"/>
            <a:ext cx="524939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71"/>
              </a:lnSpc>
              <a:buNone/>
            </a:pPr>
            <a:r>
              <a:rPr lang="en-US" sz="217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単施設・少人数の予備的評価（n=21）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877425" y="5581129"/>
            <a:ext cx="419100" cy="419100"/>
          </a:xfrm>
          <a:prstGeom prst="ellipse">
            <a:avLst/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839325" y="558112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06075" y="5581129"/>
            <a:ext cx="425386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71"/>
              </a:lnSpc>
              <a:buNone/>
            </a:pPr>
            <a:r>
              <a:rPr lang="en-US" sz="217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対照群のない、演習直後の評価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9877425" y="6285979"/>
            <a:ext cx="419100" cy="419100"/>
          </a:xfrm>
          <a:prstGeom prst="ellipse">
            <a:avLst/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9839325" y="628597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06075" y="6285979"/>
            <a:ext cx="595817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71"/>
              </a:lnSpc>
              <a:buNone/>
            </a:pPr>
            <a:r>
              <a:rPr lang="en-US" sz="217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開発者主催による、肯定方向の偏り（COI）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9877425" y="6990829"/>
            <a:ext cx="419100" cy="419100"/>
          </a:xfrm>
          <a:prstGeom prst="ellipse">
            <a:avLst/>
          </a:prstGeom>
          <a:solidFill>
            <a:srgbClr val="F1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9839325" y="699082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06075" y="6990829"/>
            <a:ext cx="51654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71"/>
              </a:lnSpc>
              <a:buNone/>
            </a:pPr>
            <a:r>
              <a:rPr lang="en-US" sz="2175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患者の理解・継続、臨床効果は未評価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047750" y="9382125"/>
            <a:ext cx="4834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出典：アンケートA・Bの結果に基づく考察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7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FFFFFF">
                    <a:alpha val="7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566863"/>
            <a:ext cx="153047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500" b="1" dirty="0" err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紙の自主トレ指導書を短時間で作る選択肢として</a:t>
            </a:r>
            <a:r>
              <a:rPr lang="en-US" sz="4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</a:p>
          <a:p>
            <a:pPr marL="0" indent="0" algn="l">
              <a:lnSpc>
                <a:spcPct val="103448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『トレさく』は実用可能性を示した。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031457"/>
            <a:ext cx="12382500" cy="3519487"/>
          </a:xfrm>
          <a:prstGeom prst="roundRect">
            <a:avLst>
              <a:gd name="adj" fmla="val 600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552575" y="4507707"/>
            <a:ext cx="1251013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26" dirty="0">
                <a:solidFill>
                  <a:srgbClr val="C5D7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次の検証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52575" y="5267325"/>
            <a:ext cx="90591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5D7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067967" y="5267325"/>
            <a:ext cx="67694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多施設・実業務での継続利用と作成時間を検証する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52575" y="6113859"/>
            <a:ext cx="74975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5D7F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067967" y="6078140"/>
            <a:ext cx="70637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運動種目・利用環境を拡充し、現場適合性を確かめる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849313" y="4031457"/>
            <a:ext cx="3390900" cy="37242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263" y="4431847"/>
            <a:ext cx="1905000" cy="1905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539333" y="6577183"/>
            <a:ext cx="2263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アプリ詳細はこちら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287053" y="6932075"/>
            <a:ext cx="251541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2857"/>
              </a:lnSpc>
              <a:buNone/>
            </a:pPr>
            <a:r>
              <a:rPr lang="en-US" sz="1800" dirty="0">
                <a:solidFill>
                  <a:srgbClr val="6262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toresaku.com/lp.html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47750" y="9358313"/>
            <a:ext cx="1019509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ご清聴ありがとうございました｜リハビリテーション・ケア合同研究大会 高知2026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5946636" y="9382125"/>
            <a:ext cx="1422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P07-5-1｜10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807</Words>
  <Application>Microsoft Macintosh PowerPoint</Application>
  <PresentationFormat>ユーザー設定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竜成 佐藤</cp:lastModifiedBy>
  <cp:revision>9</cp:revision>
  <dcterms:created xsi:type="dcterms:W3CDTF">2026-08-18T03:45:10Z</dcterms:created>
  <dcterms:modified xsi:type="dcterms:W3CDTF">2026-09-09T12:20:32Z</dcterms:modified>
</cp:coreProperties>
</file>