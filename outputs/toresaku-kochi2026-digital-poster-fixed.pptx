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37a5dcaeb94f7a" /><Relationship Type="http://schemas.openxmlformats.org/officeDocument/2006/relationships/extended-properties" Target="/docProps/app.xml" Id="R1eaf0696a0604825" /><Relationship Type="http://schemas.openxmlformats.org/officeDocument/2006/relationships/officeDocument" Target="/ppt/presentation.xml" Id="R74c94daca2ab4d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01e7f7eecf4b7b"/>
  </p:sldMasterIdLst>
  <p:notesMasterIdLst>
    <p:notesMasterId xmlns:r="http://schemas.openxmlformats.org/officeDocument/2006/relationships" r:id="Rfc8707d5c3be46c9"/>
  </p:notesMasterIdLst>
  <p:sldIdLst>
    <p:sldId xmlns:r="http://schemas.openxmlformats.org/officeDocument/2006/relationships" id="256" r:id="Rf66ef4ad5a7f4199"/>
    <p:sldId xmlns:r="http://schemas.openxmlformats.org/officeDocument/2006/relationships" id="257" r:id="R01e4699915a84e6f"/>
    <p:sldId xmlns:r="http://schemas.openxmlformats.org/officeDocument/2006/relationships" id="258" r:id="R0d31f63842bf4608"/>
    <p:sldId xmlns:r="http://schemas.openxmlformats.org/officeDocument/2006/relationships" id="259" r:id="R59e3ec20dce7483a"/>
    <p:sldId xmlns:r="http://schemas.openxmlformats.org/officeDocument/2006/relationships" id="260" r:id="Rac11135e916845d3"/>
    <p:sldId xmlns:r="http://schemas.openxmlformats.org/officeDocument/2006/relationships" id="261" r:id="R8c938c30896d4b1c"/>
    <p:sldId xmlns:r="http://schemas.openxmlformats.org/officeDocument/2006/relationships" id="262" r:id="R59a85ab851874202"/>
    <p:sldId xmlns:r="http://schemas.openxmlformats.org/officeDocument/2006/relationships" id="263" r:id="Ra5d48a8d024c45a0"/>
    <p:sldId xmlns:r="http://schemas.openxmlformats.org/officeDocument/2006/relationships" id="264" r:id="Re9a4b93a05884192"/>
    <p:sldId xmlns:r="http://schemas.openxmlformats.org/officeDocument/2006/relationships" id="265" r:id="Rafdc41f09e984ba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1c9e34e6fc44a5" /><Relationship Type="http://schemas.openxmlformats.org/officeDocument/2006/relationships/slideMaster" Target="/ppt/slideMasters/slideMaster1.xml" Id="R0501e7f7eecf4b7b" /><Relationship Type="http://schemas.openxmlformats.org/officeDocument/2006/relationships/notesMaster" Target="/ppt/notesMasters/notesMaster1.xml" Id="Rfc8707d5c3be46c9" /><Relationship Type="http://schemas.openxmlformats.org/officeDocument/2006/relationships/presProps" Target="/ppt/presProps.xml" Id="R815f2d452aa64c23" /><Relationship Type="http://schemas.openxmlformats.org/officeDocument/2006/relationships/tableStyles" Target="/ppt/tableStyles.xml" Id="R7ed25040dd4546aa" /><Relationship Type="http://schemas.openxmlformats.org/officeDocument/2006/relationships/slide" Target="/ppt/slides/slide1.xml" Id="Rf66ef4ad5a7f4199" /><Relationship Type="http://schemas.openxmlformats.org/officeDocument/2006/relationships/slide" Target="/ppt/slides/slide2.xml" Id="R01e4699915a84e6f" /><Relationship Type="http://schemas.openxmlformats.org/officeDocument/2006/relationships/slide" Target="/ppt/slides/slide3.xml" Id="R0d31f63842bf4608" /><Relationship Type="http://schemas.openxmlformats.org/officeDocument/2006/relationships/slide" Target="/ppt/slides/slide4.xml" Id="R59e3ec20dce7483a" /><Relationship Type="http://schemas.openxmlformats.org/officeDocument/2006/relationships/slide" Target="/ppt/slides/slide5.xml" Id="Rac11135e916845d3" /><Relationship Type="http://schemas.openxmlformats.org/officeDocument/2006/relationships/slide" Target="/ppt/slides/slide6.xml" Id="R8c938c30896d4b1c" /><Relationship Type="http://schemas.openxmlformats.org/officeDocument/2006/relationships/slide" Target="/ppt/slides/slide7.xml" Id="R59a85ab851874202" /><Relationship Type="http://schemas.openxmlformats.org/officeDocument/2006/relationships/slide" Target="/ppt/slides/slide8.xml" Id="Ra5d48a8d024c45a0" /><Relationship Type="http://schemas.openxmlformats.org/officeDocument/2006/relationships/slide" Target="/ppt/slides/slide9.xml" Id="Re9a4b93a05884192" /><Relationship Type="http://schemas.openxmlformats.org/officeDocument/2006/relationships/slide" Target="/ppt/slides/slide10.xml" Id="Rafdc41f09e984b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8be8ea2c1644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781738b79345e6" /><Relationship Type="http://schemas.openxmlformats.org/officeDocument/2006/relationships/notesMaster" Target="/ppt/notesMasters/notesMaster1.xml" Id="Rde9a6d903a214c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f1637a1b254d37" /><Relationship Type="http://schemas.openxmlformats.org/officeDocument/2006/relationships/notesMaster" Target="/ppt/notesMasters/notesMaster1.xml" Id="R80440b3ff4a543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63cfa157a64029" /><Relationship Type="http://schemas.openxmlformats.org/officeDocument/2006/relationships/notesMaster" Target="/ppt/notesMasters/notesMaster1.xml" Id="R1e4fc20fb8bb48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625952a1c14341" /><Relationship Type="http://schemas.openxmlformats.org/officeDocument/2006/relationships/notesMaster" Target="/ppt/notesMasters/notesMaster1.xml" Id="R258b20ee3f4341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eb8e195142448a" /><Relationship Type="http://schemas.openxmlformats.org/officeDocument/2006/relationships/notesMaster" Target="/ppt/notesMasters/notesMaster1.xml" Id="Rdc2d721da4974c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c7803986a34499" /><Relationship Type="http://schemas.openxmlformats.org/officeDocument/2006/relationships/notesMaster" Target="/ppt/notesMasters/notesMaster1.xml" Id="R6c6c5ca241124e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8a67b8ba464024" /><Relationship Type="http://schemas.openxmlformats.org/officeDocument/2006/relationships/notesMaster" Target="/ppt/notesMasters/notesMaster1.xml" Id="Rdb303ea43f8a40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dd652337624514" /><Relationship Type="http://schemas.openxmlformats.org/officeDocument/2006/relationships/notesMaster" Target="/ppt/notesMasters/notesMaster1.xml" Id="R1e4b7a3062974e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ca4e1c54d1462e" /><Relationship Type="http://schemas.openxmlformats.org/officeDocument/2006/relationships/notesMaster" Target="/ppt/notesMasters/notesMaster1.xml" Id="R65789a4c79a643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45d126fbbe424f" /><Relationship Type="http://schemas.openxmlformats.org/officeDocument/2006/relationships/notesMaster" Target="/ppt/notesMasters/notesMaster1.xml" Id="Rb6f45910f9454c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本演題では、自主トレ指導書作成アプリ『トレさく』を院内勉強会で試用し、作成上の課題と使用感を予備的に評価した結果をご報告します。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利益相反についてです。筆頭演者はトレさくの開発者です。その他に開示すべき利益相反はありません。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まず、普段どのように指導書を作成しているかを尋ねました。Office系ソフトが52.4%で最多でした。専用アプリの利用は1名にとどまり、多くのスタッフが汎用的な手段で作成していました。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対象は院内勉強会に参加したPT、OT、STの21名です。開始時に現状と課題を調査し、説明後に10分間で指導書を1件作成してもらいました。その直後に使用感と今後の使用意向を調査しました。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トレさくでは、収録された運動を選び、回数やセット数、注意点を患者に合わせて調整し、A4の指導書としてPDF出力します。操作は端末内で完結し、患者には印刷した指導書を渡す運用を想定しています。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開始時の課題感は、5項目すべてで66.7%以上でした。特にイラストや図解の質・見やすさは90.5%、作成時間と個別調整はそれぞれ81%が課題と回答しました。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10分間の演習では、17名、81%が指導書を完成しました。使用感については、5項目すべてで85.7%以上が肯定的に回答し、作成時間短縮と必要な運動を見つけられたという項目は100%でした。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今後の使用意向は、ぜひ使いたいが61.9%、機会があれば使いたいが38.1%で、参加者全員が肯定的でした。ただし、これは演習直後の意向であり、継続利用や実際の業務時間を示すものではありません。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結果から、トレさくは短時間で指導書を作成でき、作成者から使いやすいと評価される可能性が示されました。一方、単施設21名、対照群なし、開発者主催の演習直後評価です。患者の理解や運動継続、臨床効果は評価してい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以上より、トレさくは紙の自主トレ指導書を短時間で作る選択肢として、実用可能性を示しました。今後は多施設の実業務で、継続利用と作成時間を検証します。ご清聴ありがとうございました。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46f4d113542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d4dc1f2433422d" /><Relationship Type="http://schemas.openxmlformats.org/officeDocument/2006/relationships/slideLayout" Target="/ppt/slideLayouts/slideLayout1.xml" Id="R88f011e1037644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f011e1037644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ae3dbc86b4314" /><Relationship Type="http://schemas.openxmlformats.org/officeDocument/2006/relationships/image" Target="/ppt/media/image.png" Id="R4df968136a0e4bce" /><Relationship Type="http://schemas.openxmlformats.org/officeDocument/2006/relationships/notesSlide" Target="/ppt/notesSlides/notesSlide1.xml" Id="Rf9843eca4cfc48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faa1b51cf49eb" /><Relationship Type="http://schemas.openxmlformats.org/officeDocument/2006/relationships/notesSlide" Target="/ppt/notesSlides/notesSlide2.xml" Id="R57dfe2f8469c48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59846f35f4e1b" /><Relationship Type="http://schemas.openxmlformats.org/officeDocument/2006/relationships/chart" Target="/ppt/slides/charts/chart1.xml" Id="Rab334c48900541ba" /><Relationship Type="http://schemas.openxmlformats.org/officeDocument/2006/relationships/notesSlide" Target="/ppt/notesSlides/notesSlide3.xml" Id="R6e0d130e4b394e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88bd81894432a" /><Relationship Type="http://schemas.openxmlformats.org/officeDocument/2006/relationships/notesSlide" Target="/ppt/notesSlides/notesSlide4.xml" Id="R6ee084f3b57141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b3a862db249f8" /><Relationship Type="http://schemas.openxmlformats.org/officeDocument/2006/relationships/image" Target="/ppt/media/image2.png" Id="Rcc6514982ded45cc" /><Relationship Type="http://schemas.openxmlformats.org/officeDocument/2006/relationships/image" Target="/ppt/media/image3.png" Id="R647fb40c8aa747ab" /><Relationship Type="http://schemas.openxmlformats.org/officeDocument/2006/relationships/image" Target="/ppt/media/image4.png" Id="Rbd4297268e8e4f0b" /><Relationship Type="http://schemas.openxmlformats.org/officeDocument/2006/relationships/notesSlide" Target="/ppt/notesSlides/notesSlide5.xml" Id="Rcf63e8e395d24f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0688b01e64cb4" /><Relationship Type="http://schemas.openxmlformats.org/officeDocument/2006/relationships/chart" Target="/ppt/slides/charts/chart2.xml" Id="R448f4f66c88947eb" /><Relationship Type="http://schemas.openxmlformats.org/officeDocument/2006/relationships/notesSlide" Target="/ppt/notesSlides/notesSlide6.xml" Id="R491bd2c924b846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f8b091b2c4d4a" /><Relationship Type="http://schemas.openxmlformats.org/officeDocument/2006/relationships/image" Target="/ppt/media/image5.png" Id="Re4b8a7aa48ac4db0" /><Relationship Type="http://schemas.openxmlformats.org/officeDocument/2006/relationships/notesSlide" Target="/ppt/notesSlides/notesSlide7.xml" Id="Rf9705bb9470947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4d6ecbf7c4c0e" /><Relationship Type="http://schemas.openxmlformats.org/officeDocument/2006/relationships/chart" Target="/ppt/slides/charts/chart3.xml" Id="Rca289fe4b35a40c2" /><Relationship Type="http://schemas.openxmlformats.org/officeDocument/2006/relationships/notesSlide" Target="/ppt/notesSlides/notesSlide8.xml" Id="R09b773dede8743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18f6c6a96472d" /><Relationship Type="http://schemas.openxmlformats.org/officeDocument/2006/relationships/notesSlide" Target="/ppt/notesSlides/notesSlide9.xml" Id="R1e9bc4ece6a242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35d56b9594a54" /><Relationship Type="http://schemas.openxmlformats.org/officeDocument/2006/relationships/image" Target="/ppt/media/image6.png" Id="R748712dfc4644a63" /><Relationship Type="http://schemas.openxmlformats.org/officeDocument/2006/relationships/notesSlide" Target="/ppt/notesSlides/notesSlide10.xml" Id="R82442d5bc43f4e5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構成比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Office系ソフト</c:v>
              </c:pt>
              <c:pt idx="1">
                <c:v>手書き</c:v>
              </c:pt>
              <c:pt idx="2">
                <c:v>既存資料・テンプレート</c:v>
              </c:pt>
              <c:pt idx="3">
                <c:v>専用アプリ</c:v>
              </c:pt>
              <c:pt idx="4">
                <c:v>口頭のみ</c:v>
              </c:pt>
            </c:strLit>
          </c:cat>
          <c:val>
            <c:numLit>
              <c:formatCode>0.0"%"</c:formatCode>
              <c:ptCount val="5"/>
              <c:pt idx="0">
                <c:v>52.4</c:v>
              </c:pt>
              <c:pt idx="1">
                <c:v>19</c:v>
              </c:pt>
              <c:pt idx="2">
                <c:v>19</c:v>
              </c:pt>
              <c:pt idx="3">
                <c:v>4.8</c:v>
              </c:pt>
              <c:pt idx="4">
                <c:v>4.8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F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CE5E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課題感（4・5）</c:v>
          </c:tx>
          <c:spPr>
            <a:solidFill xmlns:a="http://schemas.openxmlformats.org/drawingml/2006/main">
              <a:srgbClr val="123A68"/>
            </a:solidFill>
          </c:spPr>
          <c:cat>
            <c:strLit>
              <c:ptCount val="5"/>
              <c:pt idx="0">
                <c:v>作成時間</c:v>
              </c:pt>
              <c:pt idx="1">
                <c:v>運動の選択</c:v>
              </c:pt>
              <c:pt idx="2">
                <c:v>イラスト・図解</c:v>
              </c:pt>
              <c:pt idx="3">
                <c:v>個別調整</c:v>
              </c:pt>
              <c:pt idx="4">
                <c:v>理解・継続への自信</c:v>
              </c:pt>
            </c:strLit>
          </c:cat>
          <c:val>
            <c:numLit>
              <c:formatCode>0.0"%"</c:formatCode>
              <c:ptCount val="5"/>
              <c:pt idx="0">
                <c:v>81</c:v>
              </c:pt>
              <c:pt idx="1">
                <c:v>66.7</c:v>
              </c:pt>
              <c:pt idx="2">
                <c:v>90.5</c:v>
              </c:pt>
              <c:pt idx="3">
                <c:v>81</c:v>
              </c:pt>
              <c:pt idx="4">
                <c:v>76.2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F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CE5E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33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ぜひ使いたい</c:v>
          </c:tx>
          <c:spPr>
            <a:solidFill xmlns:a="http://schemas.openxmlformats.org/drawingml/2006/main">
              <a:srgbClr val="059669"/>
            </a:solidFill>
          </c:spPr>
          <c:cat>
            <c:strLit>
              <c:ptCount val="1"/>
              <c:pt idx="0">
                <c:v>今後の使用意向</c:v>
              </c:pt>
            </c:strLit>
          </c:cat>
          <c:val>
            <c:numLit>
              <c:formatCode>0.0"%"</c:formatCode>
              <c:ptCount val="1"/>
              <c:pt idx="0">
                <c:v>61.9</c:v>
              </c:pt>
            </c:numLit>
          </c:val>
        </c:ser>
        <c:ser>
          <c:idx val="1"/>
          <c:order val="1"/>
          <c:tx>
            <c:v>機会があれば</c:v>
          </c:tx>
          <c:spPr>
            <a:solidFill xmlns:a="http://schemas.openxmlformats.org/drawingml/2006/main">
              <a:srgbClr val="38BDF8"/>
            </a:solidFill>
          </c:spPr>
          <c:cat>
            <c:strLit>
              <c:ptCount val="1"/>
              <c:pt idx="0">
                <c:v>今後の使用意向</c:v>
              </c:pt>
            </c:strLit>
          </c:cat>
          <c:val>
            <c:numLit>
              <c:formatCode>0.0"%"</c:formatCode>
              <c:ptCount val="1"/>
              <c:pt idx="0">
                <c:v>38.1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64748B"/>
              </a:solidFill>
            </a:defRPr>
          </a:pPr>
        </a:p>
      </c:txPr>
    </c:legend>
    <c:plotVisOnly val="1"/>
  </c:chart>
  <c:spPr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B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D6BD8-A698-4417-AC78-83B2E1E4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7A6CD-7F8E-40A9-B562-AD7C3079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452DC-B766-469F-B210-43DEBC1A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"/>
            <a:ext cx="40005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D6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968136a0e4bce"/>
          <a:stretch xmlns:a="http://schemas.openxmlformats.org/drawingml/2006/main"/>
        </p:blipFill>
        <p:spPr>
          <a:xfrm xmlns:a="http://schemas.openxmlformats.org/drawingml/2006/main">
            <a:off x="8553450" y="1085850"/>
            <a:ext cx="1809750" cy="1809750"/>
          </a:xfrm>
          <a:prstGeom xmlns:a="http://schemas.openxmlformats.org/drawingml/2006/main" prst="roundRect">
            <a:avLst>
              <a:gd name="adj" fmla="val 2315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29F12-2F8D-475A-BC63-09BC836D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D5F4"/>
                </a:solidFill>
              </a:defRPr>
            </a:pPr>
            <a:r>
              <a:rPr sz="1200" b="1">
                <a:solidFill>
                  <a:srgbClr val="B9D5F4"/>
                </a:solidFill>
              </a:rPr>
              <a:t>リハビリテーション・ケア合同研究大会 高知2026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F4574-ADB0-41FA-AA78-325A20DE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742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自主トレ指導書作成アプリ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『トレさく』の開発と使用感の予備的評価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3FEFC-9D80-4C62-8DE8-1A616F61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BF9DE-8892-46E1-8451-47884522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佐藤 竜成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B55E3-9D95-421F-AB58-3F06D172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7FA"/>
                </a:solidFill>
              </a:defRPr>
            </a:pPr>
            <a:r>
              <a:rPr sz="1500" b="0">
                <a:solidFill>
                  <a:srgbClr val="D6E7FA"/>
                </a:solidFill>
              </a:rPr>
              <a:t>社会福祉法人 東京有隣会 有隣病院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FC43D-3DC0-4CF6-9DAD-9995EA03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C8EA"/>
                </a:solidFill>
              </a:defRPr>
            </a:pPr>
            <a:r>
              <a:rPr sz="1350" b="1">
                <a:solidFill>
                  <a:srgbClr val="A7C8EA"/>
                </a:solidFill>
              </a:rPr>
              <a:t>演題番号  P07-5-1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09543-B3BD-465B-B1D0-9E4705EC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C8EA"/>
                </a:solidFill>
              </a:defRPr>
            </a:pPr>
            <a:r>
              <a:rPr sz="1200" b="0">
                <a:solidFill>
                  <a:srgbClr val="A7C8EA"/>
                </a:solidFill>
              </a:rPr>
              <a:t>DX（デジタルトランスフォーメーション）</a:t>
            </a:r>
          </a:p>
        </p:txBody>
      </p:sp>
    </p:spTree>
    <p:extLst>
      <p:ext uri="{BB962C8B-B14F-4D97-AF65-F5344CB8AC3E}">
        <p14:creationId xmlns:p14="http://schemas.microsoft.com/office/powerpoint/2010/main" val="10290842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2A2E3-1F1C-4AE9-A0CE-5D19A6A5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743DC-59F0-40D1-91DA-5BD02A5C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C7252-5C15-4AC6-B9AB-E4EE58DA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CONFLICT OF INTEREST</a:t>
            </a:r>
          </a:p>
        </p:txBody>
      </p:sp>
      <p:sp>
        <p:nvSpPr>
          <p:cNvPr id="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4DA867C-7699-4673-8DCB-3C510E16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利益相反（COI）の開示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81D7F-6085-4BC2-ADC4-1AC4AF39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D2FDC-EF27-4BF5-8920-B9D53EF9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24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P07-5-1  | 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DEE9F-E9D4-4663-A362-1753567D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A7855-D7AC-4247-9488-231256C3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8953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B50"/>
                </a:solidFill>
              </a:defRPr>
            </a:pPr>
            <a:r>
              <a:rPr sz="2550" b="1">
                <a:solidFill>
                  <a:srgbClr val="0B2B50"/>
                </a:solidFill>
              </a:rPr>
              <a:t>筆頭演者は本アプリ</a:t>
            </a:r>
          </a:p>
          <a:p xmlns:a="http://schemas.openxmlformats.org/drawingml/2006/main">
            <a:pPr algn="ctr">
              <a:defRPr sz="2550" b="1">
                <a:solidFill>
                  <a:srgbClr val="0B2B50"/>
                </a:solidFill>
              </a:defRPr>
            </a:pPr>
            <a:r>
              <a:rPr sz="2550" b="1">
                <a:solidFill>
                  <a:srgbClr val="0B2B50"/>
                </a:solidFill>
              </a:rPr>
              <a:t>『トレさく』の開発者である。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0A893-A4DE-4616-A51C-028EE115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004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BC1DD-E07E-4221-B42B-558D615D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05275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その他に開示すべき利益相反はない。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6565B-D633-44EB-99D2-41158E3D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38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抄録提出日を基準として過去1年間</a:t>
            </a:r>
          </a:p>
        </p:txBody>
      </p:sp>
    </p:spTree>
    <p:extLst>
      <p:ext uri="{BB962C8B-B14F-4D97-AF65-F5344CB8AC3E}">
        <p14:creationId xmlns:p14="http://schemas.microsoft.com/office/powerpoint/2010/main" val="3766297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7806E-D5B8-4B88-ABAD-C260589D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0A984-685A-427D-A51D-D5D20382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79C01-F523-443D-B782-1202CC74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BACKGROUND</a:t>
            </a:r>
          </a:p>
        </p:txBody>
      </p:sp>
      <p:sp>
        <p:nvSpPr>
          <p:cNvPr id="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670131A-BBD2-4E08-9BD4-E58381DD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指導書作成は、いまもOffice系ソフトが中心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7DF08-0F4F-448A-9695-56CD8864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4C842-F98E-4785-A5F8-6681DDD9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24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P07-5-1  |  03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69056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334c48900541b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AD823-9853-4222-9589-67E05989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2563EB"/>
                </a:solidFill>
              </a:defRPr>
            </a:pPr>
            <a:r>
              <a:rPr sz="4350" b="1">
                <a:solidFill>
                  <a:srgbClr val="2563EB"/>
                </a:solidFill>
              </a:rPr>
              <a:t>52.4%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DEF9F-8554-44AC-96E6-D87E5CA5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11 / 21名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3DC63-D590-4F7B-ACA1-FCE93B5E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57600"/>
            <a:ext cx="314325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FF3C5-22C8-4C80-9657-D25149A9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433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汎用ソフトで毎回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資料を組み立てている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DF3AE-39D1-4740-81CF-6155A403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43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専用アプリ利用は1名（4.8%）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C906D-3380-45C5-B7F2-EC006700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出典：勉強会開始時アンケートA（n=21）</a:t>
            </a:r>
          </a:p>
        </p:txBody>
      </p:sp>
    </p:spTree>
    <p:extLst>
      <p:ext uri="{BB962C8B-B14F-4D97-AF65-F5344CB8AC3E}">
        <p14:creationId xmlns:p14="http://schemas.microsoft.com/office/powerpoint/2010/main" val="6686136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EB74D6-4A4F-4A68-BD4A-8EADA189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EBAC7-27D5-4D43-AE51-7B4D4FA7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A70F8-E1E9-428E-89CF-9DBDED27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METHODS</a:t>
            </a:r>
          </a:p>
        </p:txBody>
      </p:sp>
      <p:sp>
        <p:nvSpPr>
          <p:cNvPr id="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BE85B83-8364-4C9D-B6D2-D0A031C3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勉強会の前後で、課題感と使用感を調査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31D1A-DB46-44CA-92D5-3F3B04D0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05CD7-0F6F-492D-8FA3-114214FC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24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P07-5-1  | 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A7F0F-F963-4A18-85EC-8ABB1425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対象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DD562-8D60-4F02-AFFC-2E8BBC66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院内勉強会に参加した PT・OT・ST 21名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6C509-118E-44AA-911B-7F2AD60E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2026年5月18日・22日／Googleフォーム／回答率100%（21/21）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8FAED-EE99-43AE-9E7C-90A05D85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14775"/>
            <a:ext cx="809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BDAB0-804E-48F6-9A96-563DEBDA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480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44E03-BCEF-4D87-A31C-FA1FBDBD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62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02CB2-431A-44A5-B7D3-CD3CCF94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B50"/>
                </a:solidFill>
              </a:defRPr>
            </a:pPr>
            <a:r>
              <a:rPr sz="1500" b="1">
                <a:solidFill>
                  <a:srgbClr val="0B2B50"/>
                </a:solidFill>
              </a:rPr>
              <a:t>開始時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C75C5-E550-4651-9E79-6B77313B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アンケートA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作成方法・課題感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70D6A-E1F7-4182-A955-E73E3E7C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480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82B6BE-54F1-4F7F-834A-FE183C3B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62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1087B3-19B9-4DE3-97D9-D5896F1C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577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説明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60B65-DD41-4F73-9CBA-D14AFE14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9585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アプリの概要と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操作方法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C91AE-3921-4A6C-A4E9-DC497D77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480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AA99E6-ACC3-4E8A-8DDF-780CED8A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62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44C2E-D307-45A8-9C71-AECFEA93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</a:defRPr>
            </a:pPr>
            <a:r>
              <a:rPr sz="1500" b="1">
                <a:solidFill>
                  <a:srgbClr val="38BDF8"/>
                </a:solidFill>
              </a:rPr>
              <a:t>演習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649FFE-A818-4D1B-962C-89977A90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9585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各自で指導書を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1件作成（10分）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4FB4FD-FC3D-4D69-84B7-C16E7257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480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B2AC40-2FA6-4F26-A611-3F936DEC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62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7B9436-C381-4D6C-8214-4EA389B9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終了時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EB7E23-059A-4531-8D1C-453199D7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9585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アンケートB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使用感・使用意向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5F8F97-ADAB-4BDE-B163-34D84F4A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95450"/>
            <a:ext cx="2476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806912-228C-425E-A80F-500E0889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478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B50"/>
                </a:solidFill>
              </a:defRPr>
            </a:pPr>
            <a:r>
              <a:rPr sz="1275" b="1">
                <a:solidFill>
                  <a:srgbClr val="0B2B50"/>
                </a:solidFill>
              </a:rPr>
              <a:t>評価</a:t>
            </a:r>
          </a:p>
          <a:p xmlns:a="http://schemas.openxmlformats.org/drawingml/2006/main">
            <a:pPr algn="ctr">
              <a:defRPr sz="1275" b="1">
                <a:solidFill>
                  <a:srgbClr val="0B2B50"/>
                </a:solidFill>
              </a:defRPr>
            </a:pPr>
            <a:r>
              <a:rPr sz="1275" b="1">
                <a:solidFill>
                  <a:srgbClr val="0B2B50"/>
                </a:solidFill>
              </a:rPr>
              <a:t>5段階・4以上を肯定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ED8BBA-D188-4208-8BC7-1869CE06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出典：研究実施記録およびアンケートA・B</a:t>
            </a:r>
          </a:p>
        </p:txBody>
      </p:sp>
    </p:spTree>
    <p:extLst>
      <p:ext uri="{BB962C8B-B14F-4D97-AF65-F5344CB8AC3E}">
        <p14:creationId xmlns:p14="http://schemas.microsoft.com/office/powerpoint/2010/main" val="14171690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F75A2-9962-4878-BE9C-81D7A8BC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F1FAD-B3A1-405A-9AE0-6159DDC7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3B546-9D2F-404D-A480-EF56CB9F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INTERVENTION</a:t>
            </a:r>
          </a:p>
        </p:txBody>
      </p:sp>
      <p:sp>
        <p:nvSpPr>
          <p:cNvPr id="4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4F292DA-51A4-45F6-A8ED-9D9FFED0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選ぶ・調整する・出力する——3段階で指導書を作成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3B084-D63D-4A1C-A020-3D7E8793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2EE93-F06B-4C10-A214-7056CC53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24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P07-5-1  |  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E59AD-ABF6-47CC-9536-04CD5E61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28950" cy="38862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514982ded45cc"/>
          <a:srcRect xmlns:a="http://schemas.openxmlformats.org/drawingml/2006/main" l="0" t="12780" r="0" b="127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" y="1905000"/>
            <a:ext cx="1809750" cy="2914650"/>
          </a:xfrm>
          <a:prstGeom xmlns:a="http://schemas.openxmlformats.org/drawingml/2006/main" prst="roundRect">
            <a:avLst>
              <a:gd name="adj" fmla="val 1052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C024F-B732-4BA9-A628-5467807C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B50"/>
                </a:solidFill>
              </a:defRPr>
            </a:pPr>
            <a:r>
              <a:rPr sz="1425" b="1">
                <a:solidFill>
                  <a:srgbClr val="0B2B50"/>
                </a:solidFill>
              </a:rPr>
              <a:t>1  運動を選ぶ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D3037-D158-432B-8421-0BB9D39B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028950" cy="38862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fb40c8aa747ab"/>
          <a:srcRect xmlns:a="http://schemas.openxmlformats.org/drawingml/2006/main" l="0" t="12780" r="0" b="127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3950" y="1905000"/>
            <a:ext cx="1809750" cy="2914650"/>
          </a:xfrm>
          <a:prstGeom xmlns:a="http://schemas.openxmlformats.org/drawingml/2006/main" prst="roundRect">
            <a:avLst>
              <a:gd name="adj" fmla="val 10526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FDF29-D15E-4984-8AF7-C125B20F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292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B50"/>
                </a:solidFill>
              </a:defRPr>
            </a:pPr>
            <a:r>
              <a:rPr sz="1425" b="1">
                <a:solidFill>
                  <a:srgbClr val="0B2B50"/>
                </a:solidFill>
              </a:rPr>
              <a:t>2  回数・注意点を調整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5236F-7956-4A25-B1B6-427D6F80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14500"/>
            <a:ext cx="3028950" cy="38862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297268e8e4f0b"/>
          <a:srcRect xmlns:a="http://schemas.openxmlformats.org/drawingml/2006/main" l="0" t="12780" r="0" b="127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9150" y="1905000"/>
            <a:ext cx="1809750" cy="2914650"/>
          </a:xfrm>
          <a:prstGeom xmlns:a="http://schemas.openxmlformats.org/drawingml/2006/main" prst="roundRect">
            <a:avLst>
              <a:gd name="adj" fmla="val 10526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DBEC5-BE58-4B40-ACC1-D31873FC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292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3  PDF出力・印刷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57AD0-DFCA-47D8-90FF-4E70AB2B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7912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端末内で完結し、作成したA4指導書を患者に渡す</a:t>
            </a:r>
          </a:p>
        </p:txBody>
      </p:sp>
    </p:spTree>
    <p:extLst>
      <p:ext uri="{BB962C8B-B14F-4D97-AF65-F5344CB8AC3E}">
        <p14:creationId xmlns:p14="http://schemas.microsoft.com/office/powerpoint/2010/main" val="15122064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BE8F4-1B9A-469D-8411-6BCEA28D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6678D-564D-425E-B237-B66AFD06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478D5-239B-42FA-9B18-CCBA9253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RESULTS 1</a:t>
            </a:r>
          </a:p>
        </p:txBody>
      </p:sp>
      <p:sp>
        <p:nvSpPr>
          <p:cNvPr id="4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B30F36DE-40D1-49CC-9256-5DC6A197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5つの作成課題すべてで、3人に2人以上が困っていた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FADF2-B0D0-468E-B4B5-8A3F7320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F7F50-41F1-46AB-A86C-987B6828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24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P07-5-1  |  06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8191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8f4f66c88947e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D0992-45CF-4E6D-9BA9-D14BD1B3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76450"/>
            <a:ext cx="2305050" cy="2571750"/>
          </a:xfrm>
          <a:prstGeom xmlns:a="http://schemas.openxmlformats.org/drawingml/2006/main" prst="roundRect">
            <a:avLst>
              <a:gd name="adj" fmla="val 991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4E933-8103-4197-A64C-01A0BBB0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62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最大の課題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C44F6-957B-409D-AB59-F9C204EA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003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563EB"/>
                </a:solidFill>
              </a:defRPr>
            </a:pPr>
            <a:r>
              <a:rPr sz="3900" b="1">
                <a:solidFill>
                  <a:srgbClr val="2563EB"/>
                </a:solidFill>
              </a:rPr>
              <a:t>90.5%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5B81E-9D1C-4F83-BDDB-A837C647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3855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イラスト・図解の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質や見やすさ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7FD01-176C-4065-B877-A7FA7BA6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1015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各項目：5段階評価の4・5を集計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1D887-C09F-4DA1-A0E3-EF34CA37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出典：勉強会開始時アンケートA（n=21）</a:t>
            </a:r>
          </a:p>
        </p:txBody>
      </p:sp>
    </p:spTree>
    <p:extLst>
      <p:ext uri="{BB962C8B-B14F-4D97-AF65-F5344CB8AC3E}">
        <p14:creationId xmlns:p14="http://schemas.microsoft.com/office/powerpoint/2010/main" val="19243996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8a7aa48ac4db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7291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C66BC-5331-422E-A65A-E505209F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FADB8-F836-45DA-A1B2-5DAF29A9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DE111-6499-45D6-897F-A86EAD6E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RESULTS 3</a:t>
            </a:r>
          </a:p>
        </p:txBody>
      </p:sp>
      <p:sp>
        <p:nvSpPr>
          <p:cNvPr id="4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98E8CDB-66F4-4F1D-BA19-AFC47CFB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参加者全員が、今後の業務で使う意向を示した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F2E9F-F7A7-47AC-B8CE-D5028F21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971BB-0B68-467D-9785-0B86FE34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24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P07-5-1  | 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D384B-28B6-46DC-BF2C-07580BA1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059669"/>
                </a:solidFill>
              </a:defRPr>
            </a:pPr>
            <a:r>
              <a:rPr sz="5700" b="1">
                <a:solidFill>
                  <a:srgbClr val="059669"/>
                </a:solidFill>
              </a:rPr>
              <a:t>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D2D88-217F-4029-AC4E-64A4F599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21 / 21名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D1E70-6274-4AA4-A812-6883CF52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876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「ぜひ使いたい」または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「機会があれば使いたい」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476750" y="2152650"/>
          <a:ext xmlns:a="http://schemas.openxmlformats.org/drawingml/2006/main" cx="65722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289fe4b35a40c2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3112B-03F7-45F8-8C52-EFD4F8D0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86300"/>
            <a:ext cx="64770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1F3F8-280B-4C7E-904A-A4E4C38C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57750"/>
            <a:ext cx="577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ただし、これは演習直後の「使用意向」であり、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継続利用や業務時間の実測値ではない。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3A32C-AA44-47CC-9FD6-92E34EA5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出典：10分間の演習後アンケートB（n=21）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0642E-EA2C-4ECF-AAE8-8B337065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RESULTS 3</a:t>
            </a:r>
          </a:p>
        </p:txBody>
      </p:sp>
    </p:spTree>
    <p:extLst>
      <p:ext uri="{BB962C8B-B14F-4D97-AF65-F5344CB8AC3E}">
        <p14:creationId xmlns:p14="http://schemas.microsoft.com/office/powerpoint/2010/main" val="1414840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9891E-625A-4399-87FF-57911B14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9D115-9CD5-4074-9B24-C00F0DC6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10D35-A668-4FBF-9C62-2742265F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INTERPRETATION</a:t>
            </a:r>
          </a:p>
        </p:txBody>
      </p:sp>
      <p:sp>
        <p:nvSpPr>
          <p:cNvPr id="4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A99AC132-6B0C-4C68-A56C-84F586E8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示されたのは“使いやすさの可能性”——臨床効果は未評価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266F1-2E83-4916-8DA2-5A04C378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9896C-A3F2-40EA-A6F6-C8800503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24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P07-5-1  | 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DBC82-5DA7-4529-B2D6-BAC2E7A7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972050" cy="38290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A7E5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6B669-C6C0-4F9C-9146-963E8F74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今回の結果が示すこと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DE3A1-36E4-42CB-A764-FDC6726F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40195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 10分で多くが指導書を完成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 作成時間・個別調整・図解を高く評価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 今後の使用意向は全員が肯定的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BDE33-D103-4E77-A4AD-1CE2F1E9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33550"/>
            <a:ext cx="5314950" cy="38290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9281A-1317-4FE3-9BDF-60566AB3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解釈に必要な4つの限界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FAD11-BE88-41C8-8629-1BE98D72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86050"/>
            <a:ext cx="44386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1  単施設・少人数（n=21）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2  対照群のない演習直後評価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3  開発者主催による肯定方向の偏り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4  患者の理解・継続や臨床効果は未評価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187FF-4ECF-495B-B16C-70CF1018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出典：アンケートA・Bの結果に基づく考察</a:t>
            </a:r>
          </a:p>
        </p:txBody>
      </p:sp>
    </p:spTree>
    <p:extLst>
      <p:ext uri="{BB962C8B-B14F-4D97-AF65-F5344CB8AC3E}">
        <p14:creationId xmlns:p14="http://schemas.microsoft.com/office/powerpoint/2010/main" val="1789693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2B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51444-90EA-473D-B30F-940F9227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CB888-B5EB-4835-911C-BF5B2042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C2DCB-C92B-40FF-B7AE-AF6F8AAB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</a:defRPr>
            </a:pPr>
            <a:r>
              <a:rPr sz="1125" b="1">
                <a:solidFill>
                  <a:srgbClr val="38BDF8"/>
                </a:solidFill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68E95-71DA-42E5-9308-270FE1D7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790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紙の指導書を短時間で作る選択肢として、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『トレさく』は実用可能性を示した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C15D3-600A-41AE-A570-4F03E890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4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962C0-B622-4788-9A65-4B5E1CAF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</a:defRPr>
            </a:pPr>
            <a:r>
              <a:rPr sz="1350" b="1">
                <a:solidFill>
                  <a:srgbClr val="38BDF8"/>
                </a:solidFill>
              </a:rPr>
              <a:t>次の検証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EB20F-628C-4816-B3FF-3BD2318D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733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多施設・実業務での継続利用と作成時間を検証する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運動種目・利用環境を拡充し、現場適合性を確かめる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542BF-A4C1-4831-932D-FD9BCDC6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8580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2A547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FA667-F966-40CF-883B-15EAF8FE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EAFB"/>
                </a:solidFill>
              </a:defRPr>
            </a:pPr>
            <a:r>
              <a:rPr sz="1575" b="1">
                <a:solidFill>
                  <a:srgbClr val="D9EAFB"/>
                </a:solidFill>
              </a:rPr>
              <a:t>記録・出力ツールとして、臨床判断は専門職が行う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1DF22-B711-4A85-9FA0-0FBFF6D6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76300"/>
            <a:ext cx="2724150" cy="4476750"/>
          </a:xfrm>
          <a:prstGeom xmlns:a="http://schemas.openxmlformats.org/drawingml/2006/main" prst="roundRect">
            <a:avLst>
              <a:gd name="adj" fmla="val 97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712dfc4644a63"/>
          <a:stretch xmlns:a="http://schemas.openxmlformats.org/drawingml/2006/main"/>
        </p:blipFill>
        <p:spPr>
          <a:xfrm xmlns:a="http://schemas.openxmlformats.org/drawingml/2006/main">
            <a:off x="9029700" y="125730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C98D1-AB76-4333-89E9-F3AD3532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766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B50"/>
                </a:solidFill>
              </a:defRPr>
            </a:pPr>
            <a:r>
              <a:rPr sz="1500" b="1">
                <a:solidFill>
                  <a:srgbClr val="0B2B50"/>
                </a:solidFill>
              </a:rPr>
              <a:t>アプリ詳細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9597F-86F8-449D-A8B7-5B248D55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toresaku-app.github.io</a:t>
            </a:r>
          </a:p>
          <a:p xmlns:a="http://schemas.openxmlformats.org/drawingml/2006/main"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/web/lp.html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458CE-F339-4A67-B134-7081FEB4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05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B50"/>
                </a:solidFill>
              </a:defRPr>
            </a:pPr>
            <a:r>
              <a:rPr sz="1425" b="1">
                <a:solidFill>
                  <a:srgbClr val="0B2B50"/>
                </a:solidFill>
              </a:rPr>
              <a:t>ご清聴ありがとうございました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F0291-0659-4D6B-93A2-8709C177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191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EBBD7"/>
                </a:solidFill>
              </a:defRPr>
            </a:pPr>
            <a:r>
              <a:rPr sz="1050" b="0">
                <a:solidFill>
                  <a:srgbClr val="9EBBD7"/>
                </a:solidFill>
              </a:rPr>
              <a:t>P07-5-1</a:t>
            </a:r>
          </a:p>
        </p:txBody>
      </p:sp>
    </p:spTree>
    <p:extLst>
      <p:ext uri="{BB962C8B-B14F-4D97-AF65-F5344CB8AC3E}">
        <p14:creationId xmlns:p14="http://schemas.microsoft.com/office/powerpoint/2010/main" val="1544397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2026-07-17T03:39:17.2770000Z</dcterms:created>
  <dcterms:modified xsi:type="dcterms:W3CDTF">2026-07-17T03:39:17.2770000Z</dcterms:modified>
</coreProperties>
</file>