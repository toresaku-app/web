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9dea52d1e24df9" /><Relationship Type="http://schemas.openxmlformats.org/officeDocument/2006/relationships/extended-properties" Target="/docProps/app.xml" Id="R08948935d0c74f9a" /><Relationship Type="http://schemas.openxmlformats.org/officeDocument/2006/relationships/officeDocument" Target="/ppt/presentation.xml" Id="Rab7c2964c3b34b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d6fafb5e104cc6"/>
  </p:sldMasterIdLst>
  <p:notesMasterIdLst>
    <p:notesMasterId xmlns:r="http://schemas.openxmlformats.org/officeDocument/2006/relationships" r:id="R133470d275424576"/>
  </p:notesMasterIdLst>
  <p:sldIdLst>
    <p:sldId xmlns:r="http://schemas.openxmlformats.org/officeDocument/2006/relationships" id="256" r:id="Rde5fd46fd75846ea"/>
    <p:sldId xmlns:r="http://schemas.openxmlformats.org/officeDocument/2006/relationships" id="257" r:id="Rcaa50a5382e64064"/>
    <p:sldId xmlns:r="http://schemas.openxmlformats.org/officeDocument/2006/relationships" id="258" r:id="Rd55ebc7dd742472d"/>
    <p:sldId xmlns:r="http://schemas.openxmlformats.org/officeDocument/2006/relationships" id="259" r:id="R69d08db2dfb1407c"/>
    <p:sldId xmlns:r="http://schemas.openxmlformats.org/officeDocument/2006/relationships" id="260" r:id="Ra20b539c54234482"/>
    <p:sldId xmlns:r="http://schemas.openxmlformats.org/officeDocument/2006/relationships" id="261" r:id="R096a0edda2084e6e"/>
    <p:sldId xmlns:r="http://schemas.openxmlformats.org/officeDocument/2006/relationships" id="262" r:id="R17242e88a62048ed"/>
    <p:sldId xmlns:r="http://schemas.openxmlformats.org/officeDocument/2006/relationships" id="263" r:id="Re21f89dd23034f87"/>
    <p:sldId xmlns:r="http://schemas.openxmlformats.org/officeDocument/2006/relationships" id="264" r:id="R7c6e51ac075a482f"/>
    <p:sldId xmlns:r="http://schemas.openxmlformats.org/officeDocument/2006/relationships" id="265" r:id="Rcafa0c6227834a8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2faed276ef47e2" /><Relationship Type="http://schemas.openxmlformats.org/officeDocument/2006/relationships/slideMaster" Target="/ppt/slideMasters/slideMaster1.xml" Id="Ra6d6fafb5e104cc6" /><Relationship Type="http://schemas.openxmlformats.org/officeDocument/2006/relationships/notesMaster" Target="/ppt/notesMasters/notesMaster1.xml" Id="R133470d275424576" /><Relationship Type="http://schemas.openxmlformats.org/officeDocument/2006/relationships/presProps" Target="/ppt/presProps.xml" Id="R905279e8dfd642a4" /><Relationship Type="http://schemas.openxmlformats.org/officeDocument/2006/relationships/tableStyles" Target="/ppt/tableStyles.xml" Id="R49350b8eb92b4ad6" /><Relationship Type="http://schemas.openxmlformats.org/officeDocument/2006/relationships/slide" Target="/ppt/slides/slide1.xml" Id="Rde5fd46fd75846ea" /><Relationship Type="http://schemas.openxmlformats.org/officeDocument/2006/relationships/slide" Target="/ppt/slides/slide2.xml" Id="Rcaa50a5382e64064" /><Relationship Type="http://schemas.openxmlformats.org/officeDocument/2006/relationships/slide" Target="/ppt/slides/slide3.xml" Id="Rd55ebc7dd742472d" /><Relationship Type="http://schemas.openxmlformats.org/officeDocument/2006/relationships/slide" Target="/ppt/slides/slide4.xml" Id="R69d08db2dfb1407c" /><Relationship Type="http://schemas.openxmlformats.org/officeDocument/2006/relationships/slide" Target="/ppt/slides/slide5.xml" Id="Ra20b539c54234482" /><Relationship Type="http://schemas.openxmlformats.org/officeDocument/2006/relationships/slide" Target="/ppt/slides/slide6.xml" Id="R096a0edda2084e6e" /><Relationship Type="http://schemas.openxmlformats.org/officeDocument/2006/relationships/slide" Target="/ppt/slides/slide7.xml" Id="R17242e88a62048ed" /><Relationship Type="http://schemas.openxmlformats.org/officeDocument/2006/relationships/slide" Target="/ppt/slides/slide8.xml" Id="Re21f89dd23034f87" /><Relationship Type="http://schemas.openxmlformats.org/officeDocument/2006/relationships/slide" Target="/ppt/slides/slide9.xml" Id="R7c6e51ac075a482f" /><Relationship Type="http://schemas.openxmlformats.org/officeDocument/2006/relationships/slide" Target="/ppt/slides/slide10.xml" Id="Rcafa0c6227834a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a66ea78eab49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b6b996ae6d486f" /><Relationship Type="http://schemas.openxmlformats.org/officeDocument/2006/relationships/notesMaster" Target="/ppt/notesMasters/notesMaster1.xml" Id="R11750073374d4b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a9d3041f314331" /><Relationship Type="http://schemas.openxmlformats.org/officeDocument/2006/relationships/notesMaster" Target="/ppt/notesMasters/notesMaster1.xml" Id="R1415fa054b934f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ab2ea90a95452c" /><Relationship Type="http://schemas.openxmlformats.org/officeDocument/2006/relationships/notesMaster" Target="/ppt/notesMasters/notesMaster1.xml" Id="R2c31f8d7a83c4e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9c3a41fdf34da8" /><Relationship Type="http://schemas.openxmlformats.org/officeDocument/2006/relationships/notesMaster" Target="/ppt/notesMasters/notesMaster1.xml" Id="Rf9ff487d747647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be47af367a4f48" /><Relationship Type="http://schemas.openxmlformats.org/officeDocument/2006/relationships/notesMaster" Target="/ppt/notesMasters/notesMaster1.xml" Id="Rcfc7b6117fcd4e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82ab95c4884aed" /><Relationship Type="http://schemas.openxmlformats.org/officeDocument/2006/relationships/notesMaster" Target="/ppt/notesMasters/notesMaster1.xml" Id="R4e858989d1a340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86132599a74bcf" /><Relationship Type="http://schemas.openxmlformats.org/officeDocument/2006/relationships/notesMaster" Target="/ppt/notesMasters/notesMaster1.xml" Id="R3224b689cf374f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1e66f67063437e" /><Relationship Type="http://schemas.openxmlformats.org/officeDocument/2006/relationships/notesMaster" Target="/ppt/notesMasters/notesMaster1.xml" Id="Rb50ec70b68f74d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a041f9e1604afd" /><Relationship Type="http://schemas.openxmlformats.org/officeDocument/2006/relationships/notesMaster" Target="/ppt/notesMasters/notesMaster1.xml" Id="Re58f2b1589de4e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8d5c6a4887446cd" /><Relationship Type="http://schemas.openxmlformats.org/officeDocument/2006/relationships/notesMaster" Target="/ppt/notesMasters/notesMaster1.xml" Id="Rb11ff6c4779f4b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本演題では、自主トレ指導書作成アプリ『トレさく』を院内勉強会で試用し、作成上の課題と使用感を予備的に評価した結果をご報告します。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利益相反についてです。筆頭演者はトレさくの開発者です。その他に開示すべき利益相反はありません。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まず、普段どのように指導書を作成しているかを尋ねました。Office系ソフトが52.4%で最多でした。専用アプリの利用は1名にとどまり、多くのスタッフが汎用的な手段で作成していました。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対象は院内勉強会に参加したPT、OT、STの21名です。開始時に現状と課題を調査し、説明後に10分間で指導書を1件作成してもらいました。その直後に使用感と今後の使用意向を調査しました。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トレさくでは、収録された運動を選び、回数やセット数、注意点を患者に合わせて調整し、A4の指導書としてPDF出力します。操作は端末内で完結し、患者には印刷した指導書を渡す運用を想定しています。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開始時の課題感は、5項目すべてで66.7%以上でした。特にイラストや図解の質・見やすさは90.5%、作成時間と個別調整はそれぞれ81%が課題と回答しました。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10分間の演習では、17名、81%が指導書を完成しました。使用感については、5項目すべてで85.7%以上が肯定的に回答し、作成時間短縮と必要な運動を見つけられたという項目は100%でした。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今後の使用意向は、ぜひ使いたいが61.9%、機会があれば使いたいが38.1%で、参加者全員が肯定的でした。ただし、これは演習直後の意向であり、継続利用や実際の業務時間を示すものではありません。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の結果から、トレさくは短時間で指導書を作成でき、作成者から使いやすいと評価される可能性が示されました。一方、単施設21名、対照群なし、開発者主催の演習直後評価です。患者の理解や運動継続、臨床効果は評価してい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以上より、トレさくは紙の自主トレ指導書を短時間で作る選択肢として、実用可能性を示しました。今後は多施設の実業務で、継続利用と作成時間を検証します。ご清聴ありがとうございました。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5a995680fe4f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4d1fcdfd74492a" /><Relationship Type="http://schemas.openxmlformats.org/officeDocument/2006/relationships/slideLayout" Target="/ppt/slideLayouts/slideLayout1.xml" Id="Ra945a4549e7649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45a4549e7649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1695268fd4d25" /><Relationship Type="http://schemas.openxmlformats.org/officeDocument/2006/relationships/image" Target="/ppt/media/image.png" Id="Ra6252d94a82e422f" /><Relationship Type="http://schemas.openxmlformats.org/officeDocument/2006/relationships/notesSlide" Target="/ppt/notesSlides/notesSlide1.xml" Id="R3a474e872b9548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914a25371416b" /><Relationship Type="http://schemas.openxmlformats.org/officeDocument/2006/relationships/notesSlide" Target="/ppt/notesSlides/notesSlide2.xml" Id="Rfded7e619b574e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5af08b7b74e8c" /><Relationship Type="http://schemas.openxmlformats.org/officeDocument/2006/relationships/chart" Target="/ppt/slides/charts/chart1.xml" Id="R6b7569ec40e04679" /><Relationship Type="http://schemas.openxmlformats.org/officeDocument/2006/relationships/notesSlide" Target="/ppt/notesSlides/notesSlide3.xml" Id="Raf0ab6c824e342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4ad272f764a57" /><Relationship Type="http://schemas.openxmlformats.org/officeDocument/2006/relationships/notesSlide" Target="/ppt/notesSlides/notesSlide4.xml" Id="Rd25cbf2b387946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067d709a04457" /><Relationship Type="http://schemas.openxmlformats.org/officeDocument/2006/relationships/image" Target="/ppt/media/image2.png" Id="R39e73de8dbfe4a41" /><Relationship Type="http://schemas.openxmlformats.org/officeDocument/2006/relationships/image" Target="/ppt/media/image3.png" Id="Re24ef7eb15274d68" /><Relationship Type="http://schemas.openxmlformats.org/officeDocument/2006/relationships/image" Target="/ppt/media/image4.png" Id="R1eeb8deebc774f57" /><Relationship Type="http://schemas.openxmlformats.org/officeDocument/2006/relationships/notesSlide" Target="/ppt/notesSlides/notesSlide5.xml" Id="R5eb7ec6e9f114b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686b87c0364585" /><Relationship Type="http://schemas.openxmlformats.org/officeDocument/2006/relationships/chart" Target="/ppt/slides/charts/chart2.xml" Id="Rf4e4efa448c94c7a" /><Relationship Type="http://schemas.openxmlformats.org/officeDocument/2006/relationships/notesSlide" Target="/ppt/notesSlides/notesSlide6.xml" Id="R2adc817f84c249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90d927498d4255" /><Relationship Type="http://schemas.openxmlformats.org/officeDocument/2006/relationships/chart" Target="/ppt/slides/charts/chart3.xml" Id="R489f1db9a66746a9" /><Relationship Type="http://schemas.openxmlformats.org/officeDocument/2006/relationships/chart" Target="/ppt/slides/charts/chart4.xml" Id="Rdedabe3f9e03456e" /><Relationship Type="http://schemas.openxmlformats.org/officeDocument/2006/relationships/notesSlide" Target="/ppt/notesSlides/notesSlide7.xml" Id="R0e703209866343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417f36f1240da" /><Relationship Type="http://schemas.openxmlformats.org/officeDocument/2006/relationships/chart" Target="/ppt/slides/charts/chart5.xml" Id="R78cdd0fce0c34016" /><Relationship Type="http://schemas.openxmlformats.org/officeDocument/2006/relationships/notesSlide" Target="/ppt/notesSlides/notesSlide8.xml" Id="R756e63a26b8242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7a07f8e18b4800" /><Relationship Type="http://schemas.openxmlformats.org/officeDocument/2006/relationships/notesSlide" Target="/ppt/notesSlides/notesSlide9.xml" Id="Refc2fb1cd96a4c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925e28dc747f9" /><Relationship Type="http://schemas.openxmlformats.org/officeDocument/2006/relationships/image" Target="/ppt/media/image5.png" Id="Rb5b32b94468a45f3" /><Relationship Type="http://schemas.openxmlformats.org/officeDocument/2006/relationships/notesSlide" Target="/ppt/notesSlides/notesSlide10.xml" Id="R726e42c4fd8f41f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構成比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5"/>
              <c:pt idx="0">
                <c:v>Office系ソフト</c:v>
              </c:pt>
              <c:pt idx="1">
                <c:v>手書き</c:v>
              </c:pt>
              <c:pt idx="2">
                <c:v>既存資料・テンプレート</c:v>
              </c:pt>
              <c:pt idx="3">
                <c:v>専用アプリ</c:v>
              </c:pt>
              <c:pt idx="4">
                <c:v>口頭のみ</c:v>
              </c:pt>
            </c:strLit>
          </c:cat>
          <c:val>
            <c:numLit>
              <c:formatCode>0.0"%"</c:formatCode>
              <c:ptCount val="5"/>
              <c:pt idx="0">
                <c:v>52.4</c:v>
              </c:pt>
              <c:pt idx="1">
                <c:v>19</c:v>
              </c:pt>
              <c:pt idx="2">
                <c:v>19</c:v>
              </c:pt>
              <c:pt idx="3">
                <c:v>4.8</c:v>
              </c:pt>
              <c:pt idx="4">
                <c:v>4.8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720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F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CE5E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033"/>
                </a:solidFill>
              </a:defRPr>
            </a:pPr>
          </a:p>
        </c:txPr>
        <c:crossAx val="48650112"/>
        <c:crossBetween val="between"/>
      </c:valAx>
      <c:spPr>
        <a:ln xmlns:a="http://schemas.openxmlformats.org/drawingml/2006/main" w="0">
          <a:noFill/>
          <a:prstDash val="solid"/>
        </a:ln>
      </c:spPr>
    </c:plotArea>
    <c:plotVisOnly val="1"/>
  </c:chart>
  <c:spPr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課題感（4・5）</c:v>
          </c:tx>
          <c:spPr>
            <a:solidFill xmlns:a="http://schemas.openxmlformats.org/drawingml/2006/main">
              <a:srgbClr val="123A68"/>
            </a:solidFill>
          </c:spPr>
          <c:cat>
            <c:strLit>
              <c:ptCount val="5"/>
              <c:pt idx="0">
                <c:v>作成時間</c:v>
              </c:pt>
              <c:pt idx="1">
                <c:v>運動の選択</c:v>
              </c:pt>
              <c:pt idx="2">
                <c:v>イラスト・図解</c:v>
              </c:pt>
              <c:pt idx="3">
                <c:v>個別調整</c:v>
              </c:pt>
              <c:pt idx="4">
                <c:v>理解・継続への自信</c:v>
              </c:pt>
            </c:strLit>
          </c:cat>
          <c:val>
            <c:numLit>
              <c:formatCode>0.0"%"</c:formatCode>
              <c:ptCount val="5"/>
              <c:pt idx="0">
                <c:v>81</c:v>
              </c:pt>
              <c:pt idx="1">
                <c:v>66.7</c:v>
              </c:pt>
              <c:pt idx="2">
                <c:v>90.5</c:v>
              </c:pt>
              <c:pt idx="3">
                <c:v>81</c:v>
              </c:pt>
              <c:pt idx="4">
                <c:v>76.2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720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F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CE5E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033"/>
                </a:solidFill>
              </a:defRPr>
            </a:pPr>
          </a:p>
        </c:txPr>
        <c:crossAx val="48650112"/>
        <c:crossBetween val="between"/>
      </c:valAx>
      <c:spPr>
        <a:ln xmlns:a="http://schemas.openxmlformats.org/drawingml/2006/main" w="0">
          <a:noFill/>
          <a:prstDash val="solid"/>
        </a:ln>
      </c:spPr>
    </c:plotArea>
    <c:plotVisOnly val="1"/>
  </c:chart>
  <c:spPr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作成状況</c:v>
          </c:tx>
          <c:dPt>
            <c:idx val="0"/>
            <c:spPr>
              <a:solidFill xmlns:a="http://schemas.openxmlformats.org/drawingml/2006/main">
                <a:srgbClr val="059669"/>
              </a:solidFill>
            </c:spPr>
          </c:dPt>
          <c:dPt>
            <c:idx val="1"/>
            <c:spPr>
              <a:solidFill xmlns:a="http://schemas.openxmlformats.org/drawingml/2006/main">
                <a:srgbClr val="DCE5EF"/>
              </a:solidFill>
            </c:spPr>
          </c:dPt>
          <c:cat>
            <c:strLit>
              <c:ptCount val="2"/>
              <c:pt idx="0">
                <c:v>完成</c:v>
              </c:pt>
              <c:pt idx="1">
                <c:v>途中まで</c:v>
              </c:pt>
            </c:strLit>
          </c:cat>
          <c:val>
            <c:numLit>
              <c:formatCode>General</c:formatCode>
              <c:ptCount val="2"/>
              <c:pt idx="0">
                <c:v>17</c:v>
              </c:pt>
              <c:pt idx="1">
                <c:v>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270"/>
        <c:holeSize val="68"/>
      </c:doughnutChart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64748B"/>
              </a:solidFill>
            </a:defRPr>
          </a:pPr>
        </a:p>
      </c:txPr>
    </c:legend>
    <c:plotVisOnly val="1"/>
  </c:chart>
  <c:spPr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肯定回答（4・5）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5"/>
              <c:pt idx="0">
                <c:v>作成時間短縮</c:v>
              </c:pt>
              <c:pt idx="1">
                <c:v>運動を見つけた</c:v>
              </c:pt>
              <c:pt idx="2">
                <c:v>図解の見やすさ</c:v>
              </c:pt>
              <c:pt idx="3">
                <c:v>個別調整</c:v>
              </c:pt>
              <c:pt idx="4">
                <c:v>理解・継続しやすさ</c:v>
              </c:pt>
            </c:strLit>
          </c:cat>
          <c:val>
            <c:numLit>
              <c:formatCode>0.0"%"</c:formatCode>
              <c:ptCount val="5"/>
              <c:pt idx="0">
                <c:v>100</c:v>
              </c:pt>
              <c:pt idx="1">
                <c:v>100</c:v>
              </c:pt>
              <c:pt idx="2">
                <c:v>85.7</c:v>
              </c:pt>
              <c:pt idx="3">
                <c:v>95.2</c:v>
              </c:pt>
              <c:pt idx="4">
                <c:v>95.2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720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F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CE5E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2033"/>
                </a:solidFill>
              </a:defRPr>
            </a:pPr>
          </a:p>
        </c:txPr>
        <c:crossAx val="48650112"/>
        <c:crossBetween val="between"/>
      </c:valAx>
      <c:spPr>
        <a:ln xmlns:a="http://schemas.openxmlformats.org/drawingml/2006/main" w="0">
          <a:noFill/>
          <a:prstDash val="solid"/>
        </a:ln>
      </c:spPr>
    </c:plotArea>
    <c:plotVisOnly val="1"/>
  </c:chart>
  <c:spPr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bar"/>
        <c:grouping val="stacked"/>
        <c:varyColors val="0"/>
        <c:ser>
          <c:idx val="0"/>
          <c:order val="0"/>
          <c:tx>
            <c:v>ぜひ使いたい</c:v>
          </c:tx>
          <c:spPr>
            <a:solidFill xmlns:a="http://schemas.openxmlformats.org/drawingml/2006/main">
              <a:srgbClr val="059669"/>
            </a:solidFill>
          </c:spPr>
          <c:cat>
            <c:strLit>
              <c:ptCount val="1"/>
              <c:pt idx="0">
                <c:v>今後の使用意向</c:v>
              </c:pt>
            </c:strLit>
          </c:cat>
          <c:val>
            <c:numLit>
              <c:formatCode>0.0"%"</c:formatCode>
              <c:ptCount val="1"/>
              <c:pt idx="0">
                <c:v>61.9</c:v>
              </c:pt>
            </c:numLit>
          </c:val>
        </c:ser>
        <c:ser>
          <c:idx val="1"/>
          <c:order val="1"/>
          <c:tx>
            <c:v>機会があれば</c:v>
          </c:tx>
          <c:spPr>
            <a:solidFill xmlns:a="http://schemas.openxmlformats.org/drawingml/2006/main">
              <a:srgbClr val="38BDF8"/>
            </a:solidFill>
          </c:spPr>
          <c:cat>
            <c:strLit>
              <c:ptCount val="1"/>
              <c:pt idx="0">
                <c:v>今後の使用意向</c:v>
              </c:pt>
            </c:strLit>
          </c:cat>
          <c:val>
            <c:numLit>
              <c:formatCode>0.0"%"</c:formatCode>
              <c:ptCount val="1"/>
              <c:pt idx="0">
                <c:v>38.1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6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FFFFF"/>
                </a:solidFill>
              </a:defRPr>
            </a:pPr>
          </a:p>
        </c:txPr>
        <c:crossAx val="48650112"/>
        <c:crossBetween val="between"/>
      </c:valAx>
      <c:spPr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64748B"/>
              </a:solidFill>
            </a:defRPr>
          </a:pPr>
        </a:p>
      </c:txPr>
    </c:legend>
    <c:plotVisOnly val="1"/>
  </c:chart>
  <c:spPr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B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BF958E-56D7-4AD2-944B-E43E1752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8EA85-C5C9-48A7-A3DB-AA7DBC79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CC8DD-6256-407C-835B-0D095A72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0500"/>
            <a:ext cx="40005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D6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252d94a82e422f"/>
          <a:stretch xmlns:a="http://schemas.openxmlformats.org/drawingml/2006/main"/>
        </p:blipFill>
        <p:spPr>
          <a:xfrm xmlns:a="http://schemas.openxmlformats.org/drawingml/2006/main">
            <a:off x="8553450" y="1085850"/>
            <a:ext cx="1809750" cy="1809750"/>
          </a:xfrm>
          <a:prstGeom xmlns:a="http://schemas.openxmlformats.org/drawingml/2006/main" prst="roundRect">
            <a:avLst>
              <a:gd name="adj" fmla="val 23158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ECE9A-29FB-454B-BEE8-D7F92BC7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D5F4"/>
                </a:solidFill>
              </a:defRPr>
            </a:pPr>
            <a:r>
              <a:rPr sz="1200" b="1">
                <a:solidFill>
                  <a:srgbClr val="B9D5F4"/>
                </a:solidFill>
              </a:rPr>
              <a:t>リハビリテーション・ケア合同研究大会 高知2026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B9E61-9BAE-46D4-BFF5-36A3BBD6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7429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自主トレ指導書作成アプリ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『トレさく』の開発と使用感の予備的評価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11BDA1-4E07-4D22-935C-47CE4052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4D3B7-5658-424B-8920-0D8DFD03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佐藤 竜成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981E45-939D-460F-B45E-2906DC8C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6E7FA"/>
                </a:solidFill>
              </a:defRPr>
            </a:pPr>
            <a:r>
              <a:rPr sz="1500" b="0">
                <a:solidFill>
                  <a:srgbClr val="D6E7FA"/>
                </a:solidFill>
              </a:rPr>
              <a:t>社会福祉法人 東京有隣会 有隣病院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4B1273-B525-46D1-8754-65F41297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C8EA"/>
                </a:solidFill>
              </a:defRPr>
            </a:pPr>
            <a:r>
              <a:rPr sz="1350" b="1">
                <a:solidFill>
                  <a:srgbClr val="A7C8EA"/>
                </a:solidFill>
              </a:rPr>
              <a:t>演題番号  P07-5-1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CB9471-3AFB-4E60-A23C-46936A75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C8EA"/>
                </a:solidFill>
              </a:defRPr>
            </a:pPr>
            <a:r>
              <a:rPr sz="1200" b="0">
                <a:solidFill>
                  <a:srgbClr val="A7C8EA"/>
                </a:solidFill>
              </a:rPr>
              <a:t>DX（デジタルトランスフォーメーション）</a:t>
            </a:r>
          </a:p>
        </p:txBody>
      </p:sp>
    </p:spTree>
    <p:extLst>
      <p:ext uri="{BB962C8B-B14F-4D97-AF65-F5344CB8AC3E}">
        <p14:creationId xmlns:p14="http://schemas.microsoft.com/office/powerpoint/2010/main" val="72031081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CECD99-5B47-4691-BCF3-8041BE98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01940B-A81B-419D-8B6E-A4F852E5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72341B-F20D-44CE-8868-ABB5625D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CONFLICT OF INTEREST</a:t>
            </a:r>
          </a:p>
        </p:txBody>
      </p:sp>
      <p:sp>
        <p:nvSpPr>
          <p:cNvPr id="4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6EFABA96-BCBD-41DD-9893-486CDBC9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利益相反（COI）の開示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DA550E-622D-48A9-AEC5-450CA7FE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BC54A5-B29C-4599-A478-E7F05912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3246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P07-5-1  |  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9CB164-C945-4324-82E5-4499B825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9944100" cy="285750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83101F-4982-4F2C-96E1-AC23929E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57450"/>
            <a:ext cx="8953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2B50"/>
                </a:solidFill>
              </a:defRPr>
            </a:pPr>
            <a:r>
              <a:rPr sz="2550" b="1">
                <a:solidFill>
                  <a:srgbClr val="0B2B50"/>
                </a:solidFill>
              </a:rPr>
              <a:t>筆頭演者は本アプリ</a:t>
            </a:r>
          </a:p>
          <a:p xmlns:a="http://schemas.openxmlformats.org/drawingml/2006/main">
            <a:pPr algn="ctr">
              <a:defRPr sz="2550" b="1">
                <a:solidFill>
                  <a:srgbClr val="0B2B50"/>
                </a:solidFill>
              </a:defRPr>
            </a:pPr>
            <a:r>
              <a:rPr sz="2550" b="1">
                <a:solidFill>
                  <a:srgbClr val="0B2B50"/>
                </a:solidFill>
              </a:rPr>
              <a:t>『トレさく』の開発者である。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D84BD-2EFF-445F-A8D1-C517BAD5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00475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2F312A-FB82-440C-A8E0-4DA7A4A5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05275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その他に開示すべき利益相反はない。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008A0F-0707-4802-87D1-D1289ADF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38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抄録提出日を基準として過去1年間</a:t>
            </a:r>
          </a:p>
        </p:txBody>
      </p:sp>
    </p:spTree>
    <p:extLst>
      <p:ext uri="{BB962C8B-B14F-4D97-AF65-F5344CB8AC3E}">
        <p14:creationId xmlns:p14="http://schemas.microsoft.com/office/powerpoint/2010/main" val="104696926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F619B5-EE8C-486B-A74C-08B3A11C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5C1261-BFA2-4F57-823F-BC86AB11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D2CC80-A481-4115-96AE-4A5F3BD2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BACKGROUND</a:t>
            </a:r>
          </a:p>
        </p:txBody>
      </p:sp>
      <p:sp>
        <p:nvSpPr>
          <p:cNvPr id="4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88319934-0B3F-4F4D-99BC-F664A6A0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指導書作成は、いまもOffice系ソフトが中心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A086AB-C1E3-4EEF-855A-7F740DE8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8E657-5EE8-4055-953B-6CA4FA9F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3246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P07-5-1  |  03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6905625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b7569ec40e04679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FE3159-EBA3-4E22-B965-9D8C8F3D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33600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2563EB"/>
                </a:solidFill>
              </a:defRPr>
            </a:pPr>
            <a:r>
              <a:rPr sz="4350" b="1">
                <a:solidFill>
                  <a:srgbClr val="2563EB"/>
                </a:solidFill>
              </a:rPr>
              <a:t>52.4%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979D2-E218-4B8F-9A3A-33336B9B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099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4748B"/>
                </a:solidFill>
              </a:defRPr>
            </a:pPr>
            <a:r>
              <a:rPr sz="1500" b="1">
                <a:solidFill>
                  <a:srgbClr val="64748B"/>
                </a:solidFill>
              </a:rPr>
              <a:t>11 / 21名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C23F02-E05D-449C-9C5B-93FB80B9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57600"/>
            <a:ext cx="3143250" cy="1200150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EA95AE-A418-4D9F-9901-2CE5CE73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433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汎用ソフトで毎回</a:t>
            </a:r>
          </a:p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資料を組み立てている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F7A2DD-A68C-4418-9889-E2335DFF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143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専用アプリ利用は1名（4.8%）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9F99E1-0A97-4943-BAC8-B7D25AD5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246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出典：勉強会開始時アンケートA（n=21）</a:t>
            </a:r>
          </a:p>
        </p:txBody>
      </p:sp>
    </p:spTree>
    <p:extLst>
      <p:ext uri="{BB962C8B-B14F-4D97-AF65-F5344CB8AC3E}">
        <p14:creationId xmlns:p14="http://schemas.microsoft.com/office/powerpoint/2010/main" val="15791621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2BF82E-DC15-4C76-A1F6-A694AF94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69FF6-4FA3-40B4-9BF8-EAF70B4F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4EEA6-8321-4C80-AE3D-CFA410ED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METHODS</a:t>
            </a:r>
          </a:p>
        </p:txBody>
      </p:sp>
      <p:sp>
        <p:nvSpPr>
          <p:cNvPr id="4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CAE882D3-FC5D-4557-A75C-199F82CF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勉強会の前後で、課題感と使用感を調査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8E863A-925F-45A3-AE17-DB6BC4E6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883A9-F8AD-4FCF-A58B-D871A5D0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3246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P07-5-1  |  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6EA369-43C9-4183-8D5D-16D9BA7C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対象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D833BF-3D89-498F-B3A1-20533079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院内勉強会に参加した PT・OT・ST 21名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36491-7626-4ED7-AFD6-0142367C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2026年5月18日・22日／Googleフォーム／回答率100%（21/21）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DD720A-BAA3-41AB-B2E4-60E4AC33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14775"/>
            <a:ext cx="809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D595D8-175A-4103-B79E-B6BB3D1A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48075"/>
            <a:ext cx="5715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B74265-7E6B-4512-9A1F-2CA1E471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6237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2E1C9B-C41E-4B5B-AB32-7CB91664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B50"/>
                </a:solidFill>
              </a:defRPr>
            </a:pPr>
            <a:r>
              <a:rPr sz="1500" b="1">
                <a:solidFill>
                  <a:srgbClr val="0B2B50"/>
                </a:solidFill>
              </a:rPr>
              <a:t>開始時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FCFD1A-7BEF-4093-B769-7DC42F59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95850"/>
            <a:ext cx="2362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アンケートA</a:t>
            </a:r>
          </a:p>
          <a:p xmlns:a="http://schemas.openxmlformats.org/drawingml/2006/main">
            <a:pPr algn="ctr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作成方法・課題感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28104C-3A45-47FD-A588-F35BCD46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48075"/>
            <a:ext cx="5715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7574F5-CF24-414E-B6B8-190A5997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6237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14F54D-FA73-46AB-A520-3739DB59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577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説明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267342-062E-46F6-B8FF-39D16263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895850"/>
            <a:ext cx="2362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アプリの概要と</a:t>
            </a:r>
          </a:p>
          <a:p xmlns:a="http://schemas.openxmlformats.org/drawingml/2006/main">
            <a:pPr algn="ctr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操作方法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95EB0B-2BFA-4DBA-8D89-04A8780B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48075"/>
            <a:ext cx="5715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74D4C7-A11A-45A9-A0FB-91CD3774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6237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1E4FFF-97BF-4F18-A9E2-1BFB0C51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577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BDF8"/>
                </a:solidFill>
              </a:defRPr>
            </a:pPr>
            <a:r>
              <a:rPr sz="1500" b="1">
                <a:solidFill>
                  <a:srgbClr val="38BDF8"/>
                </a:solidFill>
              </a:rPr>
              <a:t>演習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E3FDDD-4098-44A0-B345-FC1077DA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895850"/>
            <a:ext cx="2362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各自で指導書を</a:t>
            </a:r>
          </a:p>
          <a:p xmlns:a="http://schemas.openxmlformats.org/drawingml/2006/main">
            <a:pPr algn="ctr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1件作成（10分）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46B07C-A01C-41E9-9201-159692B6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48075"/>
            <a:ext cx="5715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E9C114-9DEF-4B09-B0B6-2728208A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76237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E5FD08-D77E-451F-AF69-A4D72AB6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577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終了時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959375-453A-40B5-A02F-DCAFE002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95850"/>
            <a:ext cx="2362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アンケートB</a:t>
            </a:r>
          </a:p>
          <a:p xmlns:a="http://schemas.openxmlformats.org/drawingml/2006/main">
            <a:pPr algn="ctr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使用感・使用意向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AD7710-7D24-4090-9888-D57661E5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695450"/>
            <a:ext cx="24765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59EC03-D77D-4C84-BB51-F960BA6C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4785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B50"/>
                </a:solidFill>
              </a:defRPr>
            </a:pPr>
            <a:r>
              <a:rPr sz="1275" b="1">
                <a:solidFill>
                  <a:srgbClr val="0B2B50"/>
                </a:solidFill>
              </a:rPr>
              <a:t>評価</a:t>
            </a:r>
          </a:p>
          <a:p xmlns:a="http://schemas.openxmlformats.org/drawingml/2006/main">
            <a:pPr algn="ctr">
              <a:defRPr sz="1275" b="1">
                <a:solidFill>
                  <a:srgbClr val="0B2B50"/>
                </a:solidFill>
              </a:defRPr>
            </a:pPr>
            <a:r>
              <a:rPr sz="1275" b="1">
                <a:solidFill>
                  <a:srgbClr val="0B2B50"/>
                </a:solidFill>
              </a:rPr>
              <a:t>5段階・4以上を肯定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FD8AFF-6C0E-4375-B8B7-09D1F8B9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246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出典：研究実施記録およびアンケートA・B</a:t>
            </a:r>
          </a:p>
        </p:txBody>
      </p:sp>
    </p:spTree>
    <p:extLst>
      <p:ext uri="{BB962C8B-B14F-4D97-AF65-F5344CB8AC3E}">
        <p14:creationId xmlns:p14="http://schemas.microsoft.com/office/powerpoint/2010/main" val="6912343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407ACD-8BD6-4921-954A-60CF2859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0EC417-1CD3-4028-A659-45241AB3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ADACA2-0C87-452C-9FB1-730919BC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INTERVENTION</a:t>
            </a:r>
          </a:p>
        </p:txBody>
      </p:sp>
      <p:sp>
        <p:nvSpPr>
          <p:cNvPr id="4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B97F83CD-F904-4D9C-8917-B108D904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選ぶ・調整する・出力する——3段階で指導書を作成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5C31A-6353-4B35-9111-882E5DB3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6E3FAA-6878-4688-9CEB-C6C2CD89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3246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P07-5-1  |  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FE40A-3C2D-4A00-A719-B649E8C7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3028950" cy="38862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e73de8dbfe4a41"/>
          <a:srcRect xmlns:a="http://schemas.openxmlformats.org/drawingml/2006/main" l="0" t="12780" r="0" b="127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" y="1905000"/>
            <a:ext cx="1809750" cy="2914650"/>
          </a:xfrm>
          <a:prstGeom xmlns:a="http://schemas.openxmlformats.org/drawingml/2006/main" prst="roundRect">
            <a:avLst>
              <a:gd name="adj" fmla="val 10526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343742-2EA6-463E-8D95-C7D0FC9F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29200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2B50"/>
                </a:solidFill>
              </a:defRPr>
            </a:pPr>
            <a:r>
              <a:rPr sz="1425" b="1">
                <a:solidFill>
                  <a:srgbClr val="0B2B50"/>
                </a:solidFill>
              </a:rPr>
              <a:t>1  運動を選ぶ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0C919E-2435-46C4-9C72-9CF62AB0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14500"/>
            <a:ext cx="3028950" cy="38862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4ef7eb15274d68"/>
          <a:srcRect xmlns:a="http://schemas.openxmlformats.org/drawingml/2006/main" l="0" t="12780" r="0" b="127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33950" y="1905000"/>
            <a:ext cx="1809750" cy="2914650"/>
          </a:xfrm>
          <a:prstGeom xmlns:a="http://schemas.openxmlformats.org/drawingml/2006/main" prst="roundRect">
            <a:avLst>
              <a:gd name="adj" fmla="val 10526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3C880B-FCE2-4AED-B86E-CF680C80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029200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2B50"/>
                </a:solidFill>
              </a:defRPr>
            </a:pPr>
            <a:r>
              <a:rPr sz="1425" b="1">
                <a:solidFill>
                  <a:srgbClr val="0B2B50"/>
                </a:solidFill>
              </a:rPr>
              <a:t>2  回数・注意点を調整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5A9506-B880-46F4-BFB5-2DF67813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714500"/>
            <a:ext cx="3028950" cy="38862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eb8deebc774f57"/>
          <a:srcRect xmlns:a="http://schemas.openxmlformats.org/drawingml/2006/main" l="0" t="12780" r="0" b="127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39150" y="1905000"/>
            <a:ext cx="1809750" cy="2914650"/>
          </a:xfrm>
          <a:prstGeom xmlns:a="http://schemas.openxmlformats.org/drawingml/2006/main" prst="roundRect">
            <a:avLst>
              <a:gd name="adj" fmla="val 10526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EC74E9-6D9B-4F17-8815-A9B07261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29200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59669"/>
                </a:solidFill>
              </a:defRPr>
            </a:pPr>
            <a:r>
              <a:rPr sz="1425" b="1">
                <a:solidFill>
                  <a:srgbClr val="059669"/>
                </a:solidFill>
              </a:rPr>
              <a:t>3  PDF出力・印刷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3F402B-E68A-49E0-A412-B16AF7E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791200"/>
            <a:ext cx="636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端末内で完結し、作成したA4指導書を患者に渡す</a:t>
            </a:r>
          </a:p>
        </p:txBody>
      </p:sp>
    </p:spTree>
    <p:extLst>
      <p:ext uri="{BB962C8B-B14F-4D97-AF65-F5344CB8AC3E}">
        <p14:creationId xmlns:p14="http://schemas.microsoft.com/office/powerpoint/2010/main" val="93100727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0DC427-6E58-47C6-8A4D-3836BC0A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D38115-9DB8-46B6-915A-15883608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802F8-6273-4C7D-9B20-E80406CE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RESULTS 1</a:t>
            </a:r>
          </a:p>
        </p:txBody>
      </p:sp>
      <p:sp>
        <p:nvSpPr>
          <p:cNvPr id="4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DBD01A95-4584-4ECF-9DFE-FF36C852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5つの作成課題すべてで、3人に2人以上が困っていた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DF45A-C5BE-40BE-9068-D3AE6B66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AC16E-47DE-4F0C-8B9A-2F3CC83A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3246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P07-5-1  |  06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8191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e4efa448c94c7a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298F7-5A23-4F60-880A-A01A9342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76450"/>
            <a:ext cx="2305050" cy="2571750"/>
          </a:xfrm>
          <a:prstGeom xmlns:a="http://schemas.openxmlformats.org/drawingml/2006/main" prst="roundRect">
            <a:avLst>
              <a:gd name="adj" fmla="val 991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E62D88-BFE8-413C-A080-7840CB74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62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最大の課題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08995-6F2D-49AA-8104-EBB7F0CF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003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2563EB"/>
                </a:solidFill>
              </a:defRPr>
            </a:pPr>
            <a:r>
              <a:rPr sz="3900" b="1">
                <a:solidFill>
                  <a:srgbClr val="2563EB"/>
                </a:solidFill>
              </a:rPr>
              <a:t>90.5%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F2ABA0-7418-4BE4-A738-01119645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38550"/>
            <a:ext cx="1695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イラスト・図解の</a:t>
            </a:r>
          </a:p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質や見やすさ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08E81B-EEC0-41B3-BFD5-C36EEE5C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010150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各項目：5段階評価の4・5を集計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CE14DA-742A-474E-BFB6-0E94739B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246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出典：勉強会開始時アンケートA（n=21）</a:t>
            </a:r>
          </a:p>
        </p:txBody>
      </p:sp>
    </p:spTree>
    <p:extLst>
      <p:ext uri="{BB962C8B-B14F-4D97-AF65-F5344CB8AC3E}">
        <p14:creationId xmlns:p14="http://schemas.microsoft.com/office/powerpoint/2010/main" val="16926877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872494-A367-42C3-861D-8C572EA5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26420D-9B48-4718-A450-1FF400F9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23DAB7-0CB9-40C9-8D1A-2AC43A8B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RESULTS 2</a:t>
            </a:r>
          </a:p>
        </p:txBody>
      </p:sp>
      <p:sp>
        <p:nvSpPr>
          <p:cNvPr id="4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2830C0AD-9F61-44AB-A001-1F9F47AB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10分で81%が完成し、使用感5項目はすべて高評価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B8AD8-143A-43D3-BB5E-3E11CDD8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72FB5-B763-4A81-9380-FD3EA3EF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3246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P07-5-1  |  07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28650" y="1714500"/>
          <a:ext xmlns:a="http://schemas.openxmlformats.org/drawingml/2006/main" cx="37147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89f1db9a66746a9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8DEE3-3333-44B9-B7C8-AA8E66E2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59669"/>
                </a:solidFill>
              </a:defRPr>
            </a:pPr>
            <a:r>
              <a:rPr sz="3300" b="1">
                <a:solidFill>
                  <a:srgbClr val="059669"/>
                </a:solidFill>
              </a:rPr>
              <a:t>81.0%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2E2D70-3BA2-4A1D-8AFA-54297D3D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4330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17 / 21名が完成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4648200" y="1762125"/>
          <a:ext xmlns:a="http://schemas.openxmlformats.org/drawingml/2006/main" cx="6762750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edabe3f9e03456e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9B9805-710D-4662-A402-916F8B7E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246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出典：10分間の演習後アンケートB（n=21）</a:t>
            </a:r>
          </a:p>
        </p:txBody>
      </p:sp>
    </p:spTree>
    <p:extLst>
      <p:ext uri="{BB962C8B-B14F-4D97-AF65-F5344CB8AC3E}">
        <p14:creationId xmlns:p14="http://schemas.microsoft.com/office/powerpoint/2010/main" val="18715454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2138AA-E52F-40F0-BF0A-723F155E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51DFC1-625A-44D6-BAC7-6E8C0ABB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563656-58B8-4BAC-96CA-FE7B6573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RESULTS 3</a:t>
            </a:r>
          </a:p>
        </p:txBody>
      </p:sp>
      <p:sp>
        <p:nvSpPr>
          <p:cNvPr id="4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677AE773-B5D3-4870-A2B4-489DF0AA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参加者全員が、今後の業務で使う意向を示した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6AF26F-74DE-4242-868F-508F8222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129705-4174-4CC0-BFBB-54FFB0F4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3246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P07-5-1  | 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1AA6DE-7573-4D7F-8957-106C8C4B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314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059669"/>
                </a:solidFill>
              </a:defRPr>
            </a:pPr>
            <a:r>
              <a:rPr sz="5700" b="1">
                <a:solidFill>
                  <a:srgbClr val="059669"/>
                </a:solidFill>
              </a:rPr>
              <a:t>100%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70BCC7-69E3-493A-9B35-EBBBC9D7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813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4748B"/>
                </a:solidFill>
              </a:defRPr>
            </a:pPr>
            <a:r>
              <a:rPr sz="1500" b="1">
                <a:solidFill>
                  <a:srgbClr val="64748B"/>
                </a:solidFill>
              </a:rPr>
              <a:t>21 / 21名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27F0B9-DE26-474E-AA67-58C8A65E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2876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「ぜひ使いたい」または</a:t>
            </a:r>
          </a:p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「機会があれば使いたい」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4476750" y="2152650"/>
          <a:ext xmlns:a="http://schemas.openxmlformats.org/drawingml/2006/main" cx="657225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cdd0fce0c34016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647561-863C-4839-85B7-5DB52914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86300"/>
            <a:ext cx="64770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4CEF2C-0A59-4E8F-8DF8-0E77B177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57750"/>
            <a:ext cx="577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ただし、これは演習直後の「使用意向」であり、</a:t>
            </a:r>
          </a:p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継続利用や業務時間の実測値ではない。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9A1BBD-3DFF-40F5-8AC8-585FC1F5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246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出典：10分間の演習後アンケートB（n=21）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F0B37E-AA0B-489E-B543-07AD24A1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RESULTS 3</a:t>
            </a:r>
          </a:p>
        </p:txBody>
      </p:sp>
    </p:spTree>
    <p:extLst>
      <p:ext uri="{BB962C8B-B14F-4D97-AF65-F5344CB8AC3E}">
        <p14:creationId xmlns:p14="http://schemas.microsoft.com/office/powerpoint/2010/main" val="11243966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7BD1F8-F3E5-4DE8-894B-BE4E48A3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699C28-5D7E-46C4-A7D8-4587F29C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BB6C5-FED4-4319-A916-CFE2F77B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INTERPRETATION</a:t>
            </a:r>
          </a:p>
        </p:txBody>
      </p:sp>
      <p:sp>
        <p:nvSpPr>
          <p:cNvPr id="4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884E6343-6D5E-412F-96C9-4841178B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示されたのは“使いやすさの可能性”——臨床効果は未評価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120FC5-76B3-47AF-B704-2527241C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1E5E7-0453-4663-B409-83D23823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3246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P07-5-1  |  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1858B4-7C60-4E2B-97DE-22B9FD47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4972050" cy="38290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A7E5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54995F-4756-4737-A67D-F188F306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764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9669"/>
                </a:solidFill>
              </a:defRPr>
            </a:pPr>
            <a:r>
              <a:rPr sz="1800" b="1">
                <a:solidFill>
                  <a:srgbClr val="059669"/>
                </a:solidFill>
              </a:rPr>
              <a:t>今回の結果が示すこと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9DBFAD-BBF2-47B3-B8B3-AB5072DA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24150"/>
            <a:ext cx="40195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✓  10分で多くが指導書を完成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✓  作成時間・個別調整・図解を高く評価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✓  今後の使用意向は全員が肯定的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0DF4EC-A4CD-4503-B968-F5B98364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33550"/>
            <a:ext cx="5314950" cy="38290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934C20-DCCD-4352-889C-D2353A61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76450"/>
            <a:ext cx="455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7706"/>
                </a:solidFill>
              </a:defRPr>
            </a:pPr>
            <a:r>
              <a:rPr sz="1800" b="1">
                <a:solidFill>
                  <a:srgbClr val="D97706"/>
                </a:solidFill>
              </a:rPr>
              <a:t>解釈に必要な4つの限界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B21B06-2609-4FF9-874C-6AD92E78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86050"/>
            <a:ext cx="443865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1  単施設・少人数（n=21）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2  対照群のない演習直後評価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3  開発者主催による肯定方向の偏り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4  患者の理解・継続や臨床効果は未評価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3D8388-C9D9-427D-971D-FEBDEE30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246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出典：アンケートA・Bの結果に基づく考察</a:t>
            </a:r>
          </a:p>
        </p:txBody>
      </p:sp>
    </p:spTree>
    <p:extLst>
      <p:ext uri="{BB962C8B-B14F-4D97-AF65-F5344CB8AC3E}">
        <p14:creationId xmlns:p14="http://schemas.microsoft.com/office/powerpoint/2010/main" val="5667611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2B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537772-A97D-4860-807D-D16209B6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FD14B-C394-4DB1-84FC-962DB2DC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8DE2C-5B4B-4E17-BCB2-956953EA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BDF8"/>
                </a:solidFill>
              </a:defRPr>
            </a:pPr>
            <a:r>
              <a:rPr sz="1125" b="1">
                <a:solidFill>
                  <a:srgbClr val="38BDF8"/>
                </a:solidFill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6AF44-1974-4A4E-B853-DF2339D2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28700"/>
            <a:ext cx="790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紙の指導書を短時間で作る選択肢として、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『トレさく』は実用可能性を示した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820AD-8D9F-4C7F-A3C1-712EB3E2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4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903F2-90AD-4430-B354-EB9C463F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BDF8"/>
                </a:solidFill>
              </a:defRPr>
            </a:pPr>
            <a:r>
              <a:rPr sz="1350" b="1">
                <a:solidFill>
                  <a:srgbClr val="38BDF8"/>
                </a:solidFill>
              </a:rPr>
              <a:t>次の検証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3A4F8B-8835-401C-8A37-5CB164E7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7334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多施設・実業務での継続利用と作成時間を検証する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運動種目・利用環境を拡充し、現場適合性を確かめる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D426B6-FBF0-489E-8218-998BA16E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6858000" cy="8001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23A68"/>
          </a:solidFill>
          <a:ln xmlns:a="http://schemas.openxmlformats.org/drawingml/2006/main" w="9525">
            <a:solidFill>
              <a:srgbClr val="2A547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ABD814-D040-43FB-89EE-962FD4C3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101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9EAFB"/>
                </a:solidFill>
              </a:defRPr>
            </a:pPr>
            <a:r>
              <a:rPr sz="1575" b="1">
                <a:solidFill>
                  <a:srgbClr val="D9EAFB"/>
                </a:solidFill>
              </a:rPr>
              <a:t>記録・出力ツールとして、臨床判断は専門職が行う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2F5F52-98E2-46F2-8AE7-AC5A9BE6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76300"/>
            <a:ext cx="2724150" cy="4476750"/>
          </a:xfrm>
          <a:prstGeom xmlns:a="http://schemas.openxmlformats.org/drawingml/2006/main" prst="roundRect">
            <a:avLst>
              <a:gd name="adj" fmla="val 97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b32b94468a45f3"/>
          <a:stretch xmlns:a="http://schemas.openxmlformats.org/drawingml/2006/main"/>
        </p:blipFill>
        <p:spPr>
          <a:xfrm xmlns:a="http://schemas.openxmlformats.org/drawingml/2006/main">
            <a:off x="9029700" y="1257300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CC876F-39F7-4C27-B3D2-6DBF7658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766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B50"/>
                </a:solidFill>
              </a:defRPr>
            </a:pPr>
            <a:r>
              <a:rPr sz="1500" b="1">
                <a:solidFill>
                  <a:srgbClr val="0B2B50"/>
                </a:solidFill>
              </a:rPr>
              <a:t>アプリ詳細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B9C6D3-25AC-4574-A02B-B2D1900D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9570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toresaku-app.github.io</a:t>
            </a:r>
          </a:p>
          <a:p xmlns:a="http://schemas.openxmlformats.org/drawingml/2006/main">
            <a:pPr algn="ctr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/web/lp.html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90E363-F208-49E5-8E9A-20E0C68B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053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2B50"/>
                </a:solidFill>
              </a:defRPr>
            </a:pPr>
            <a:r>
              <a:rPr sz="1425" b="1">
                <a:solidFill>
                  <a:srgbClr val="0B2B50"/>
                </a:solidFill>
              </a:rPr>
              <a:t>ご清聴ありがとうございました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12AC19-0D36-40D9-9214-B2920194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191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EBBD7"/>
                </a:solidFill>
              </a:defRPr>
            </a:pPr>
            <a:r>
              <a:rPr sz="1050" b="0">
                <a:solidFill>
                  <a:srgbClr val="9EBBD7"/>
                </a:solidFill>
              </a:rPr>
              <a:t>P07-5-1</a:t>
            </a:r>
          </a:p>
        </p:txBody>
      </p:sp>
    </p:spTree>
    <p:extLst>
      <p:ext uri="{BB962C8B-B14F-4D97-AF65-F5344CB8AC3E}">
        <p14:creationId xmlns:p14="http://schemas.microsoft.com/office/powerpoint/2010/main" val="3773485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2026-07-17T03:22:44.0850000Z</dcterms:created>
  <dcterms:modified xsi:type="dcterms:W3CDTF">2026-07-17T03:22:44.0850000Z</dcterms:modified>
</coreProperties>
</file>